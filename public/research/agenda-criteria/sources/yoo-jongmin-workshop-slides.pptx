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KoPub돋움체 Bold" panose="00000800000000000000" pitchFamily="2" charset="-127"/>
      <p:bold r:id="rId26"/>
    </p:embeddedFont>
    <p:embeddedFont>
      <p:font typeface="KoPub돋움체 Light" panose="00000300000000000000" pitchFamily="2" charset="-127"/>
      <p:regular r:id="rId27"/>
    </p:embeddedFont>
    <p:embeddedFont>
      <p:font typeface="KoPub돋움체 Medium" panose="00000600000000000000" pitchFamily="2" charset="-127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F2D"/>
    <a:srgbClr val="6B7280"/>
    <a:srgbClr val="B84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D3FCB-FD91-4AE7-843F-C7F056070AED}" v="6" dt="2026-05-28T02:48:32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0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gmin yu" userId="26e1c79f3cecdfbb" providerId="LiveId" clId="{3E013DA9-D662-4C5D-992F-98475A42ADC9}"/>
    <pc:docChg chg="custSel modSld">
      <pc:chgData name="jongmin yu" userId="26e1c79f3cecdfbb" providerId="LiveId" clId="{3E013DA9-D662-4C5D-992F-98475A42ADC9}" dt="2026-05-28T02:48:32.436" v="82"/>
      <pc:docMkLst>
        <pc:docMk/>
      </pc:docMkLst>
      <pc:sldChg chg="modSp mod">
        <pc:chgData name="jongmin yu" userId="26e1c79f3cecdfbb" providerId="LiveId" clId="{3E013DA9-D662-4C5D-992F-98475A42ADC9}" dt="2026-05-28T02:46:25.097" v="58"/>
        <pc:sldMkLst>
          <pc:docMk/>
          <pc:sldMk cId="0" sldId="260"/>
        </pc:sldMkLst>
        <pc:spChg chg="mod">
          <ac:chgData name="jongmin yu" userId="26e1c79f3cecdfbb" providerId="LiveId" clId="{3E013DA9-D662-4C5D-992F-98475A42ADC9}" dt="2026-05-28T02:46:25.097" v="58"/>
          <ac:spMkLst>
            <pc:docMk/>
            <pc:sldMk cId="0" sldId="260"/>
            <ac:spMk id="5" creationId="{00000000-0000-0000-0000-000000000000}"/>
          </ac:spMkLst>
        </pc:spChg>
      </pc:sldChg>
      <pc:sldChg chg="delSp mod">
        <pc:chgData name="jongmin yu" userId="26e1c79f3cecdfbb" providerId="LiveId" clId="{3E013DA9-D662-4C5D-992F-98475A42ADC9}" dt="2026-05-28T02:47:59.199" v="60" actId="478"/>
        <pc:sldMkLst>
          <pc:docMk/>
          <pc:sldMk cId="0" sldId="271"/>
        </pc:sldMkLst>
        <pc:spChg chg="del">
          <ac:chgData name="jongmin yu" userId="26e1c79f3cecdfbb" providerId="LiveId" clId="{3E013DA9-D662-4C5D-992F-98475A42ADC9}" dt="2026-05-28T02:47:59.199" v="60" actId="478"/>
          <ac:spMkLst>
            <pc:docMk/>
            <pc:sldMk cId="0" sldId="271"/>
            <ac:spMk id="48" creationId="{00000000-0000-0000-0000-000000000000}"/>
          </ac:spMkLst>
        </pc:spChg>
        <pc:spChg chg="del">
          <ac:chgData name="jongmin yu" userId="26e1c79f3cecdfbb" providerId="LiveId" clId="{3E013DA9-D662-4C5D-992F-98475A42ADC9}" dt="2026-05-28T02:47:57.082" v="59" actId="478"/>
          <ac:spMkLst>
            <pc:docMk/>
            <pc:sldMk cId="0" sldId="271"/>
            <ac:spMk id="49" creationId="{00000000-0000-0000-0000-000000000000}"/>
          </ac:spMkLst>
        </pc:spChg>
      </pc:sldChg>
      <pc:sldChg chg="modSp mod">
        <pc:chgData name="jongmin yu" userId="26e1c79f3cecdfbb" providerId="LiveId" clId="{3E013DA9-D662-4C5D-992F-98475A42ADC9}" dt="2026-05-28T02:48:32.436" v="82"/>
        <pc:sldMkLst>
          <pc:docMk/>
          <pc:sldMk cId="0" sldId="273"/>
        </pc:sldMkLst>
        <pc:spChg chg="mod">
          <ac:chgData name="jongmin yu" userId="26e1c79f3cecdfbb" providerId="LiveId" clId="{3E013DA9-D662-4C5D-992F-98475A42ADC9}" dt="2026-05-28T02:48:32.436" v="82"/>
          <ac:spMkLst>
            <pc:docMk/>
            <pc:sldMk cId="0" sldId="273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E3F5F"/>
                </a:solidFill>
                <a:latin typeface="Arial"/>
              </a:defRPr>
            </a:pPr>
            <a:r>
              <a:rPr lang="ko-KR" altLang="en-US" sz="1800" b="0" i="0" u="none" strike="noStrike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한국 온실가스 배출 경로 </a:t>
            </a:r>
            <a:r>
              <a:rPr lang="en-US" altLang="ko-KR" sz="1800" b="0" i="0" u="none" strike="noStrike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(Mt </a:t>
            </a:r>
            <a:r>
              <a:rPr lang="en-US" altLang="ko-KR" sz="1800" b="0" i="0" u="none" strike="noStrike" dirty="0" err="1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CO₂eq</a:t>
            </a:r>
            <a:r>
              <a:rPr lang="en-US" altLang="ko-KR" sz="1800" b="0" i="0" u="none" strike="noStrike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배출량 (백만 톤)</c:v>
                </c:pt>
              </c:strCache>
            </c:strRef>
          </c:tx>
          <c:spPr>
            <a:ln w="38100" cap="flat">
              <a:solidFill>
                <a:srgbClr val="2E3F5F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2E3F5F"/>
              </a:solidFill>
              <a:ln w="9525" cap="flat">
                <a:solidFill>
                  <a:srgbClr val="2E3F5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4.5595238095238078E-2"/>
                  <c:y val="-4.37203328307365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F22-4026-8E79-AA7244EE05EC}"/>
                </c:ext>
              </c:extLst>
            </c:dLbl>
            <c:dLbl>
              <c:idx val="1"/>
              <c:layout>
                <c:manualLayout>
                  <c:x val="-4.3611111111111149E-2"/>
                  <c:y val="-3.781016734610304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22-4026-8E79-AA7244EE05EC}"/>
                </c:ext>
              </c:extLst>
            </c:dLbl>
            <c:numFmt formatCode="0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E3F5F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2018
(기준)</c:v>
                </c:pt>
                <c:pt idx="1">
                  <c:v>2024
(실측)</c:v>
                </c:pt>
                <c:pt idx="2">
                  <c:v>2030
NDC</c:v>
                </c:pt>
                <c:pt idx="3">
                  <c:v>2035
NDC</c:v>
                </c:pt>
                <c:pt idx="4">
                  <c:v>2050
넷제로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727.6</c:v>
                </c:pt>
                <c:pt idx="1">
                  <c:v>691.6</c:v>
                </c:pt>
                <c:pt idx="2">
                  <c:v>436.6</c:v>
                </c:pt>
                <c:pt idx="3">
                  <c:v>319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72-41C5-8420-4FB5911B701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 부문별 배출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4A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A34-4686-A305-9930BB0035C5}"/>
              </c:ext>
            </c:extLst>
          </c:dPt>
          <c:dPt>
            <c:idx val="1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A34-4686-A305-9930BB0035C5}"/>
              </c:ext>
            </c:extLst>
          </c:dPt>
          <c:dPt>
            <c:idx val="2"/>
            <c:bubble3D val="0"/>
            <c:spPr>
              <a:solidFill>
                <a:srgbClr val="E8A63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A34-4686-A305-9930BB0035C5}"/>
              </c:ext>
            </c:extLst>
          </c:dPt>
          <c:dPt>
            <c:idx val="3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A34-4686-A305-9930BB0035C5}"/>
              </c:ext>
            </c:extLst>
          </c:dPt>
          <c:dPt>
            <c:idx val="4"/>
            <c:bubble3D val="0"/>
            <c:spPr>
              <a:solidFill>
                <a:srgbClr val="8FA6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A34-4686-A305-9930BB0035C5}"/>
              </c:ext>
            </c:extLst>
          </c:dPt>
          <c:dPt>
            <c:idx val="5"/>
            <c:bubble3D val="0"/>
            <c:spPr>
              <a:solidFill>
                <a:srgbClr val="C285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A34-4686-A305-9930BB0035C5}"/>
              </c:ext>
            </c:extLst>
          </c:dPt>
          <c:dLbls>
            <c:dLbl>
              <c:idx val="0"/>
              <c:numFmt formatCode="0&quot;&quot;" sourceLinked="0"/>
              <c:spPr/>
              <c:txPr>
                <a:bodyPr/>
                <a:lstStyle/>
                <a:p>
                  <a:pPr>
                    <a:defRPr sz="1700" b="0" i="0" u="none" strike="noStrike">
                      <a:solidFill>
                        <a:srgbClr val="FFFFFF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34-4686-A305-9930BB0035C5}"/>
                </c:ext>
              </c:extLst>
            </c:dLbl>
            <c:dLbl>
              <c:idx val="1"/>
              <c:numFmt formatCode="0&quot;&quot;" sourceLinked="0"/>
              <c:spPr/>
              <c:txPr>
                <a:bodyPr/>
                <a:lstStyle/>
                <a:p>
                  <a:pPr>
                    <a:defRPr sz="1700" b="0" i="0" u="none" strike="noStrike">
                      <a:solidFill>
                        <a:srgbClr val="FFFFFF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34-4686-A305-9930BB0035C5}"/>
                </c:ext>
              </c:extLst>
            </c:dLbl>
            <c:dLbl>
              <c:idx val="2"/>
              <c:numFmt formatCode="0&quot;&quot;" sourceLinked="0"/>
              <c:spPr/>
              <c:txPr>
                <a:bodyPr/>
                <a:lstStyle/>
                <a:p>
                  <a:pPr>
                    <a:defRPr sz="1700" b="0" i="0" u="none" strike="noStrike">
                      <a:solidFill>
                        <a:srgbClr val="FFFFFF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A34-4686-A305-9930BB0035C5}"/>
                </c:ext>
              </c:extLst>
            </c:dLbl>
            <c:dLbl>
              <c:idx val="3"/>
              <c:numFmt formatCode="0&quot;&quot;" sourceLinked="0"/>
              <c:spPr/>
              <c:txPr>
                <a:bodyPr/>
                <a:lstStyle/>
                <a:p>
                  <a:pPr>
                    <a:defRPr sz="1700" b="0" i="0" u="none" strike="noStrike">
                      <a:solidFill>
                        <a:srgbClr val="FFFFFF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A34-4686-A305-9930BB0035C5}"/>
                </c:ext>
              </c:extLst>
            </c:dLbl>
            <c:dLbl>
              <c:idx val="4"/>
              <c:numFmt formatCode="0&quot;&quot;" sourceLinked="0"/>
              <c:spPr/>
              <c:txPr>
                <a:bodyPr/>
                <a:lstStyle/>
                <a:p>
                  <a:pPr>
                    <a:defRPr sz="1700" b="0" i="0" u="none" strike="noStrike">
                      <a:solidFill>
                        <a:srgbClr val="FFFFFF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A34-4686-A305-9930BB0035C5}"/>
                </c:ext>
              </c:extLst>
            </c:dLbl>
            <c:dLbl>
              <c:idx val="5"/>
              <c:numFmt formatCode="0&quot;&quot;" sourceLinked="0"/>
              <c:spPr/>
              <c:txPr>
                <a:bodyPr/>
                <a:lstStyle/>
                <a:p>
                  <a:pPr>
                    <a:defRPr sz="1700" b="0" i="0" u="none" strike="noStrike">
                      <a:solidFill>
                        <a:srgbClr val="FFFFFF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A34-4686-A305-9930BB0035C5}"/>
                </c:ext>
              </c:extLst>
            </c:dLbl>
            <c:numFmt formatCode="0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0" i="0" u="none" strike="noStrike">
                    <a:solidFill>
                      <a:srgbClr val="000000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산업</c:v>
                </c:pt>
                <c:pt idx="1">
                  <c:v>전환(발전)</c:v>
                </c:pt>
                <c:pt idx="2">
                  <c:v>수송</c:v>
                </c:pt>
                <c:pt idx="3">
                  <c:v>건물</c:v>
                </c:pt>
                <c:pt idx="4">
                  <c:v>농축수산</c:v>
                </c:pt>
                <c:pt idx="5">
                  <c:v>폐기물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285.89999999999998</c:v>
                </c:pt>
                <c:pt idx="1">
                  <c:v>218.3</c:v>
                </c:pt>
                <c:pt idx="2">
                  <c:v>97.5</c:v>
                </c:pt>
                <c:pt idx="3">
                  <c:v>43.6</c:v>
                </c:pt>
                <c:pt idx="4">
                  <c:v>25.6</c:v>
                </c:pt>
                <c:pt idx="5">
                  <c:v>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A34-4686-A305-9930BB003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600">
              <a:latin typeface="KoPub돋움체 Bold" panose="00000800000000000000" pitchFamily="2" charset="-127"/>
              <a:ea typeface="KoPub돋움체 Bold" panose="00000800000000000000" pitchFamily="2" charset="-127"/>
            </a:defRPr>
          </a:pPr>
          <a:endParaRPr lang="ko-K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E3F5F"/>
                </a:solidFill>
                <a:latin typeface="Arial"/>
              </a:defRPr>
            </a:pPr>
            <a:r>
              <a:rPr lang="en-US" altLang="ko-KR" sz="1700" b="0" i="0" u="none" strike="noStrike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KAU </a:t>
            </a:r>
            <a:r>
              <a:rPr lang="ko-KR" altLang="en-US" sz="1700" b="0" i="0" u="none" strike="noStrike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평균 가격 추이 </a:t>
            </a:r>
            <a:r>
              <a:rPr lang="en-US" altLang="ko-KR" sz="1700" b="0" i="0" u="none" strike="noStrike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1700" b="0" i="0" u="none" strike="noStrike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천원</a:t>
            </a:r>
            <a:r>
              <a:rPr lang="en-US" altLang="ko-KR" sz="1700" b="0" i="0" u="none" strike="noStrike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1700" b="0" i="0" u="none" strike="noStrike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톤</a:t>
            </a:r>
            <a:r>
              <a:rPr lang="en-US" altLang="ko-KR" sz="1700" b="0" i="0" u="none" strike="noStrike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KAU 평균 가격 (천원/톤)</c:v>
                </c:pt>
              </c:strCache>
            </c:strRef>
          </c:tx>
          <c:spPr>
            <a:ln w="38100" cap="flat">
              <a:solidFill>
                <a:srgbClr val="2E3F5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2E3F5F"/>
              </a:solidFill>
              <a:ln w="9525" cap="flat">
                <a:solidFill>
                  <a:srgbClr val="2E3F5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E3F5F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1기
(2015~17)</c:v>
                </c:pt>
                <c:pt idx="1">
                  <c:v>2기
(2018~20)</c:v>
                </c:pt>
                <c:pt idx="2">
                  <c:v>3기 초
(2021~23)</c:v>
                </c:pt>
                <c:pt idx="3">
                  <c:v>3기 말
(2024)</c:v>
                </c:pt>
                <c:pt idx="4">
                  <c:v>현재
(2025)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12</c:v>
                </c:pt>
                <c:pt idx="4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B5-4511-9793-74CA7AADF5B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실측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dLbl>
              <c:idx val="0"/>
              <c:layout>
                <c:manualLayout>
                  <c:x val="-1.6583747927031517E-2"/>
                  <c:y val="3.30687830687830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82C-4C86-BE58-5F62B7CC0513}"/>
                </c:ext>
              </c:extLst>
            </c:dLbl>
            <c:dLbl>
              <c:idx val="3"/>
              <c:layout>
                <c:manualLayout>
                  <c:x val="-1.243781094527363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82C-4C86-BE58-5F62B7CC0513}"/>
                </c:ext>
              </c:extLst>
            </c:dLbl>
            <c:dLbl>
              <c:idx val="4"/>
              <c:layout>
                <c:manualLayout>
                  <c:x val="-4.1459369817578775E-3"/>
                  <c:y val="-1.2125080388590469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82C-4C86-BE58-5F62B7CC0513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원자력</c:v>
                </c:pt>
                <c:pt idx="1">
                  <c:v>LNG</c:v>
                </c:pt>
                <c:pt idx="2">
                  <c:v>석탄</c:v>
                </c:pt>
                <c:pt idx="3">
                  <c:v>신재생</c:v>
                </c:pt>
                <c:pt idx="4">
                  <c:v>석유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31.7</c:v>
                </c:pt>
                <c:pt idx="1">
                  <c:v>28.1</c:v>
                </c:pt>
                <c:pt idx="2">
                  <c:v>28.1</c:v>
                </c:pt>
                <c:pt idx="3">
                  <c:v>12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2D-4741-8433-1981B55A5D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 목표</c:v>
                </c:pt>
              </c:strCache>
            </c:strRef>
          </c:tx>
          <c:spPr>
            <a:solidFill>
              <a:srgbClr val="2E3F5F"/>
            </a:solidFill>
            <a:effectLst/>
          </c:spPr>
          <c:invertIfNegative val="0"/>
          <c:dLbls>
            <c:dLbl>
              <c:idx val="0"/>
              <c:layout>
                <c:manualLayout>
                  <c:x val="1.6583747927031489E-2"/>
                  <c:y val="9.92063492063490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82C-4C86-BE58-5F62B7CC0513}"/>
                </c:ext>
              </c:extLst>
            </c:dLbl>
            <c:dLbl>
              <c:idx val="1"/>
              <c:layout>
                <c:manualLayout>
                  <c:x val="2.487562189054726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82C-4C86-BE58-5F62B7CC0513}"/>
                </c:ext>
              </c:extLst>
            </c:dLbl>
            <c:dLbl>
              <c:idx val="2"/>
              <c:layout>
                <c:manualLayout>
                  <c:x val="1.865671641791044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82C-4C86-BE58-5F62B7CC0513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원자력</c:v>
                </c:pt>
                <c:pt idx="1">
                  <c:v>LNG</c:v>
                </c:pt>
                <c:pt idx="2">
                  <c:v>석탄</c:v>
                </c:pt>
                <c:pt idx="3">
                  <c:v>신재생</c:v>
                </c:pt>
                <c:pt idx="4">
                  <c:v>석유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32.4</c:v>
                </c:pt>
                <c:pt idx="1">
                  <c:v>22.9</c:v>
                </c:pt>
                <c:pt idx="2">
                  <c:v>19.7</c:v>
                </c:pt>
                <c:pt idx="3">
                  <c:v>21.6</c:v>
                </c:pt>
                <c:pt idx="4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2D-4741-8433-1981B55A5D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/>
          <a:lstStyle/>
          <a:p>
            <a:pPr>
              <a:defRPr sz="1400">
                <a:effectLst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pPr>
            <a:endParaRPr lang="ko-KR"/>
          </a:p>
        </c:txPr>
      </c:legendEntry>
      <c:legendEntry>
        <c:idx val="1"/>
        <c:txPr>
          <a:bodyPr/>
          <a:lstStyle/>
          <a:p>
            <a:pPr>
              <a:defRPr sz="1400">
                <a:effectLst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pPr>
            <a:endParaRPr lang="ko-KR"/>
          </a:p>
        </c:txPr>
      </c:legendEntry>
      <c:overlay val="0"/>
      <c:txPr>
        <a:bodyPr/>
        <a:lstStyle/>
        <a:p>
          <a:pPr>
            <a:defRPr sz="1600">
              <a:effectLst/>
              <a:latin typeface="KoPub돋움체 Bold" panose="00000800000000000000" pitchFamily="2" charset="-127"/>
              <a:ea typeface="KoPub돋움체 Bold" panose="00000800000000000000" pitchFamily="2" charset="-127"/>
            </a:defRPr>
          </a:pPr>
          <a:endParaRPr lang="ko-K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4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8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0976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 err="1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우리의</a:t>
            </a:r>
            <a:r>
              <a:rPr lang="en-US" sz="62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r>
              <a:rPr lang="en-US" sz="6200" b="1" dirty="0" err="1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탄소중립</a:t>
            </a:r>
            <a:endParaRPr lang="en-US" sz="6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234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부문별 감축방식과 </a:t>
            </a:r>
            <a:r>
              <a:rPr lang="en-US" sz="3400" dirty="0" err="1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정책</a:t>
            </a:r>
            <a:r>
              <a:rPr lang="en-US" sz="3400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r>
              <a:rPr lang="ko-KR" altLang="en-US" sz="3400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개관</a:t>
            </a:r>
            <a:endParaRPr lang="en-US" sz="3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ko-KR" altLang="en-US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기후시민회의 </a:t>
            </a:r>
            <a:r>
              <a:rPr lang="en-US" dirty="0" err="1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강의자료</a:t>
            </a:r>
            <a:r>
              <a:rPr lang="en-US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(2026.6)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ko-KR" altLang="en-US" sz="16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홍익대학교 경제학과 부교수 </a:t>
            </a:r>
            <a:r>
              <a:rPr lang="ko-KR" altLang="en-US" sz="16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유종민</a:t>
            </a:r>
            <a:endParaRPr lang="en-US" altLang="ko-KR" sz="16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5ACC054E-6FA0-2475-205B-2270A6A7B8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492" y="2327418"/>
            <a:ext cx="6877033" cy="3442710"/>
          </a:xfrm>
          <a:prstGeom prst="rect">
            <a:avLst/>
          </a:prstGeom>
          <a:effectLst>
            <a:glow rad="101600">
              <a:schemeClr val="bg2">
                <a:alpha val="40000"/>
              </a:schemeClr>
            </a:glow>
            <a:softEdge rad="3175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왜 시민이 알아야 하나</a:t>
            </a:r>
            <a:endParaRPr lang="en-US" sz="2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886548" y="320040"/>
            <a:ext cx="30920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IPCC AR6 (2021~2023), </a:t>
            </a:r>
            <a:b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</a:br>
            <a:r>
              <a:rPr lang="en-US" sz="1300" i="1" dirty="0" err="1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탄소중립기본법</a:t>
            </a: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(2022)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4572000" cy="4114800"/>
          </a:xfrm>
          <a:prstGeom prst="rect">
            <a:avLst/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1.5℃</a:t>
            </a:r>
            <a:endParaRPr lang="en-US" sz="10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산업화 이전 대비 지구 평균기온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— 이 선 넘으면 회복 어려움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4023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IPCC: 2050년까지 전 세계 탄소중립 권고</a:t>
            </a:r>
            <a:endParaRPr lang="en-US" sz="1600" i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4480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한국</a:t>
            </a:r>
            <a:r>
              <a:rPr lang="en-US" sz="16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: 2050 넷제로 법제화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0120" y="4800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「탄소중립·녹색성장 기본법」 (2022 시행)</a:t>
            </a:r>
            <a:endParaRPr lang="en-US" sz="1500" i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6035040" cy="12801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69280" y="1325880"/>
            <a:ext cx="73152" cy="128016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97880" y="14630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비용에 영향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97880" y="18745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전기요금·도시가스·자동차세·세금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→ 모두 탄소정책과 직결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69280" y="2743200"/>
            <a:ext cx="6035040" cy="12801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69280" y="2743200"/>
            <a:ext cx="73152" cy="128016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97880" y="2880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일자리 재편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97880" y="32918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철강·자동차·석유화학 등 주력 산업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→ 구조 전환 진행 중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69280" y="4160520"/>
            <a:ext cx="6035040" cy="12801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69280" y="4160520"/>
            <a:ext cx="73152" cy="128016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97880" y="42976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선택 좌우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97880" y="470916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어떤 차·어떤 집·어떤 먹거리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→ 감축 정책과 직접 연결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" y="57252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972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기후정책 = 일상 — 전기요금·세금·자동차·집·먹거리 모두 연결</a:t>
            </a:r>
            <a:endParaRPr lang="en-US" sz="2300" i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한국의 세 가지 약속</a:t>
            </a:r>
            <a:endParaRPr lang="en-US" sz="2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445841" y="320040"/>
            <a:ext cx="253279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환경부 GIR, 제1차 기본계획(2023.3), 2050 탄녹위(2025.11)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2651760" cy="40233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2018 (기준)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100" b="1" dirty="0">
                <a:solidFill>
                  <a:srgbClr val="B84A3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727.6</a:t>
            </a:r>
            <a:endParaRPr lang="en-US" sz="5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백만 톤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84A3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출발선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환경부 GIR</a:t>
            </a:r>
            <a:endParaRPr lang="en-US" sz="15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 algn="ctr">
              <a:buNone/>
            </a:pPr>
            <a:r>
              <a:rPr lang="en-US" sz="15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2018년 확정배출량</a:t>
            </a:r>
            <a:endParaRPr lang="en-US" sz="15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20440" y="1463040"/>
            <a:ext cx="2651760" cy="4023360"/>
          </a:xfrm>
          <a:prstGeom prst="rect">
            <a:avLst/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2044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2030 NDC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20440" y="20116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436.6</a:t>
            </a:r>
            <a:endParaRPr lang="en-US" sz="5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2044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−40%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2044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1차 약속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11880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제1차 탄소중립·녹색성장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 algn="ctr">
              <a:buNone/>
            </a:pPr>
            <a:r>
              <a:rPr lang="en-US" sz="16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기본계획 (2023.3)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55080" y="1463040"/>
            <a:ext cx="2651760" cy="4023360"/>
          </a:xfrm>
          <a:prstGeom prst="rect">
            <a:avLst/>
          </a:prstGeom>
          <a:solidFill>
            <a:srgbClr val="2C3854"/>
          </a:solidFill>
          <a:ln w="12700">
            <a:solidFill>
              <a:srgbClr val="2C3854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5508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2035 NDC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55080" y="20116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289~349</a:t>
            </a:r>
            <a:endParaRPr lang="en-US" sz="4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5508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−53~61%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5508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신규 (2025.11 확정)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46520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2050 탄녹위 의결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 algn="ctr">
              <a:buNone/>
            </a:pPr>
            <a:r>
              <a:rPr lang="en-US" sz="16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(2025.11.10~11)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89720" y="1463040"/>
            <a:ext cx="2651760" cy="4023360"/>
          </a:xfrm>
          <a:prstGeom prst="rect">
            <a:avLst/>
          </a:prstGeom>
          <a:solidFill>
            <a:srgbClr val="1F2A45"/>
          </a:solidFill>
          <a:ln w="12700">
            <a:solidFill>
              <a:srgbClr val="1F2A45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8972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2050 넷제로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89720" y="20116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≈ 0</a:t>
            </a:r>
            <a:endParaRPr lang="en-US" sz="5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8972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−100%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18972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법으로 정한 목적지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81160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탄소중립기본법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 algn="ctr">
              <a:buNone/>
            </a:pPr>
            <a:r>
              <a:rPr lang="en-US" sz="16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(2022 시행)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918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▸</a:t>
            </a:r>
            <a:endParaRPr lang="en-US" sz="2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2648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▸</a:t>
            </a:r>
            <a:endParaRPr lang="en-US" sz="2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96112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▸</a:t>
            </a:r>
            <a:endParaRPr lang="en-US" sz="2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85800" y="573408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972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2035 NDC 확정 (2025.11) — 모든 부문 감축경로 가파르게 상향됨</a:t>
            </a:r>
            <a:endParaRPr lang="en-US" sz="2300" i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감축의 속도 — 지금까지 vs 앞으로</a:t>
            </a:r>
            <a:endParaRPr lang="en-US" sz="2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49196" y="320040"/>
            <a:ext cx="34294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환경부 GIR(2025.8), 기본계획(2023.3), 2035 NDC(2025.11)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046326766"/>
              </p:ext>
            </p:extLst>
          </p:nvPr>
        </p:nvGraphicFramePr>
        <p:xfrm>
          <a:off x="594360" y="1371600"/>
          <a:ext cx="64008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17804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‘속도’가 핵심</a:t>
            </a:r>
            <a:endParaRPr lang="en-US" sz="2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178040" y="1828800"/>
            <a:ext cx="4846320" cy="11887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178040" y="1828800"/>
            <a:ext cx="91440" cy="1188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60920" y="1884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지난 6년 (2018→2024)</a:t>
            </a:r>
            <a:endParaRPr lang="en-US" sz="1500" dirty="0">
              <a:solidFill>
                <a:srgbClr val="6B728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6092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−36</a:t>
            </a:r>
            <a:endParaRPr lang="en-US" sz="2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0" y="23591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Mt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32688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연평균 −0.9%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60920" y="266818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재생 확대·석탄 </a:t>
            </a:r>
            <a:r>
              <a:rPr lang="en-US" sz="1500" i="1" dirty="0" err="1">
                <a:solidFill>
                  <a:srgbClr val="6B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축소</a:t>
            </a:r>
            <a:r>
              <a:rPr lang="en-US" sz="1500" i="1" dirty="0">
                <a:solidFill>
                  <a:srgbClr val="6B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6B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시작</a:t>
            </a:r>
            <a:r>
              <a:rPr lang="en-US" sz="1500" i="1" dirty="0">
                <a:solidFill>
                  <a:srgbClr val="6B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, </a:t>
            </a:r>
            <a:r>
              <a:rPr lang="en-US" sz="1500" i="1" dirty="0" err="1">
                <a:solidFill>
                  <a:srgbClr val="6B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그러나</a:t>
            </a:r>
            <a:r>
              <a:rPr lang="en-US" sz="1500" i="1" dirty="0">
                <a:solidFill>
                  <a:srgbClr val="6B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산업·수송은 정체</a:t>
            </a:r>
            <a:endParaRPr lang="en-US" sz="1500" i="1" dirty="0">
              <a:solidFill>
                <a:srgbClr val="6B728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178040" y="3108960"/>
            <a:ext cx="4846320" cy="11887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178040" y="3108960"/>
            <a:ext cx="91440" cy="1188720"/>
          </a:xfrm>
          <a:prstGeom prst="rect">
            <a:avLst/>
          </a:prstGeom>
          <a:solidFill>
            <a:srgbClr val="B84A3E"/>
          </a:solidFill>
          <a:ln w="12700">
            <a:solidFill>
              <a:srgbClr val="B84A3E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360920" y="3164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4A3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다음 6년 (2024→2030)</a:t>
            </a:r>
            <a:endParaRPr lang="en-US" sz="1500" dirty="0">
              <a:solidFill>
                <a:srgbClr val="B84A3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360920" y="3474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4A3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−255</a:t>
            </a:r>
            <a:endParaRPr lang="en-US" sz="2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869680" y="36393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Mt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32688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B84A3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연평균 −6.9%  ⚠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360920" y="394834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4A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지금까지의 약 7배 </a:t>
            </a:r>
            <a:r>
              <a:rPr lang="en-US" sz="1500" i="1" dirty="0" err="1">
                <a:solidFill>
                  <a:srgbClr val="B84A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가속</a:t>
            </a:r>
            <a:r>
              <a:rPr lang="en-US" sz="1500" i="1" dirty="0">
                <a:solidFill>
                  <a:srgbClr val="B84A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B84A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필요</a:t>
            </a:r>
            <a:r>
              <a:rPr lang="en-US" sz="1500" i="1" dirty="0">
                <a:solidFill>
                  <a:srgbClr val="B84A3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→ 향후 5년이 결정적</a:t>
            </a:r>
            <a:endParaRPr lang="en-US" sz="1500" i="1" dirty="0">
              <a:solidFill>
                <a:srgbClr val="B84A3E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178040" y="4389120"/>
            <a:ext cx="4846320" cy="11887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178040" y="4389120"/>
            <a:ext cx="9144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360920" y="4445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이후 20년 (2030→2050)</a:t>
            </a:r>
            <a:endParaRPr lang="en-US" sz="1500" dirty="0">
              <a:solidFill>
                <a:srgbClr val="2C5F2D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360920" y="4754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−437</a:t>
            </a:r>
            <a:endParaRPr lang="en-US" sz="2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869680" y="49194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Mt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326880" y="4800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2C5F2D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잔여 배출 전량 제거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360920" y="522850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C5F2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넷제로 = 직접 감축 + </a:t>
            </a:r>
            <a:r>
              <a:rPr lang="en-US" sz="1500" i="1" dirty="0" err="1">
                <a:solidFill>
                  <a:srgbClr val="2C5F2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흡수원</a:t>
            </a:r>
            <a:r>
              <a:rPr lang="en-US" sz="1500" i="1" dirty="0">
                <a:solidFill>
                  <a:srgbClr val="2C5F2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+ CCUS + 국제감축 조합</a:t>
            </a:r>
            <a:endParaRPr lang="en-US" sz="1500" i="1" dirty="0">
              <a:solidFill>
                <a:srgbClr val="2C5F2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85800" y="607898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097280" y="6105619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지난 6년 속도로 2030 NDC 달성 = 불가능 · 산업·수송 가속이 결정적</a:t>
            </a:r>
            <a:endParaRPr lang="en-US" sz="2300" i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56817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94360" y="263223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263223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263223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9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현행 배출량 부문별 출처</a:t>
            </a:r>
            <a:endParaRPr lang="en-US" sz="2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06144" y="263223"/>
            <a:ext cx="272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환경부 GIR 「2024 잠정배출량」 (2025.8.20)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177623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2024년 잠정 691.6 백만 톤 — 2010년 이후 처음 7억 톤 아래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517358649"/>
              </p:ext>
            </p:extLst>
          </p:nvPr>
        </p:nvGraphicFramePr>
        <p:xfrm>
          <a:off x="533400" y="1543383"/>
          <a:ext cx="5913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1508760" y="3235023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691.6</a:t>
            </a:r>
            <a:endParaRPr lang="en-US" sz="2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508760" y="3737943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Mt CO₂eq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60228" y="1712058"/>
            <a:ext cx="5029200" cy="41148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043108" y="184921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2024 부문별 배출 (백만 톤)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043108" y="230641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부문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597588" y="230641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배출량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694868" y="230641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YoY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609268" y="230641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비중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043108" y="2580738"/>
            <a:ext cx="45720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3108" y="2635602"/>
            <a:ext cx="4572000" cy="393192"/>
          </a:xfrm>
          <a:prstGeom prst="rect">
            <a:avLst/>
          </a:prstGeom>
          <a:solidFill>
            <a:srgbClr val="EAEEF7"/>
          </a:solidFill>
          <a:ln w="12700">
            <a:solidFill>
              <a:srgbClr val="EAEEF7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43108" y="267217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산업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597588" y="267217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285.9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694868" y="267217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i="1" dirty="0">
                <a:solidFill>
                  <a:srgbClr val="B84A3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+0.5%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609268" y="267217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41%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043108" y="308365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전환(발전)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597588" y="308365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218.3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694868" y="308365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i="1" dirty="0">
                <a:solidFill>
                  <a:srgbClr val="2C5F2D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−5.4%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609268" y="308365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32%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043108" y="3458562"/>
            <a:ext cx="4572000" cy="393192"/>
          </a:xfrm>
          <a:prstGeom prst="rect">
            <a:avLst/>
          </a:prstGeom>
          <a:solidFill>
            <a:srgbClr val="EAEEF7"/>
          </a:solidFill>
          <a:ln w="12700">
            <a:solidFill>
              <a:srgbClr val="EAEEF7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043108" y="349513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수송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597588" y="349513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97.5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694868" y="349513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−0.4%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0609268" y="349513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14%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043108" y="390661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건물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597588" y="390661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43.6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9694868" y="390661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i="1" dirty="0">
                <a:solidFill>
                  <a:srgbClr val="2C5F2D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−2.8%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0609268" y="390661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6%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7043108" y="4281522"/>
            <a:ext cx="4572000" cy="393192"/>
          </a:xfrm>
          <a:prstGeom prst="rect">
            <a:avLst/>
          </a:prstGeom>
          <a:solidFill>
            <a:srgbClr val="EAEEF7"/>
          </a:solidFill>
          <a:ln w="12700">
            <a:solidFill>
              <a:srgbClr val="EAEEF7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043108" y="431809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농축수산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8597588" y="431809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25.6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9694868" y="431809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i="1" dirty="0">
                <a:solidFill>
                  <a:srgbClr val="2C5F2D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−2.7%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0609268" y="431809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4%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043108" y="472957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폐기물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8597588" y="472957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17.5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9694868" y="472957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i="1" dirty="0">
                <a:solidFill>
                  <a:srgbClr val="2C5F2D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−3.4%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10609268" y="472957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3%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043108" y="532393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산업이 최대 · 발전+산업 합쳐 73%</a:t>
            </a:r>
            <a:endParaRPr lang="en-US" sz="2000" i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40080" y="604525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1051560" y="604525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2030 NDC 감축 분담률과 현재 배출 비중은 별개 개념</a:t>
            </a:r>
            <a:endParaRPr lang="en-US" sz="2300" i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7432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292519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잘하는 곳, 걱정되는 곳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81856" y="320040"/>
            <a:ext cx="2896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환경부 GIR 「2024 잠정배출량」 (2025.8.20)</a:t>
            </a:r>
            <a:endParaRPr lang="en-US" sz="1300" i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486400" cy="4297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✓ 줄어든 부문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전환(발전)  −5.4%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C9E0C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석탄발전 −9.6%, 원전 +4.6%, 재생 +8.6%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건물  −2.8% (직접배출)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C9E0C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포근한 겨울 + 도시가스 −2.5%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단, 총 에너지사용량 +3.9% (전기 사용↑)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농축수산  −2.7% · 폐기물  −3.4%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C9E0C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벼 재배면적 −1.4%, 매립량 지속 감소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5486400" cy="4297680"/>
          </a:xfrm>
          <a:prstGeom prst="rect">
            <a:avLst/>
          </a:prstGeom>
          <a:solidFill>
            <a:srgbClr val="B84A3E"/>
          </a:solidFill>
          <a:ln w="12700">
            <a:solidFill>
              <a:srgbClr val="B84A3E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2E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✗ 걱정되는 부문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20840" y="210312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산업  +0.5%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5D5C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석유화학 +4.4%, 정유 +6.1%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5F2E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원단위 개선 부진 → 생산 회복기 부담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수송  −0.4%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5D5C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경유차 −4.2%, 휘발유 +0.9%, HEV +32%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5F2E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무공해차 보급 둔화 → 격차 확대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HFCs (냉매)  +4.8%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5D5C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CO₂의 100~1만 배 강한 온실가스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5F2E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기기 주입 후 2~20년 누출 지속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596757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596757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2030 NDC 달성 — 산업·수송 부담 최대 · 향후 5년 결정적</a:t>
            </a:r>
            <a:endParaRPr lang="en-US" sz="2300" i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한국 감축정책 = 둘로 나뉨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01956" y="320040"/>
            <a:ext cx="297668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ICAP K-ETS Factsheet (2024), 환경부 (2025)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486400" cy="4297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4032504" cy="4297680"/>
          </a:xfrm>
          <a:prstGeom prst="rect">
            <a:avLst/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4032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ETS 내부</a:t>
            </a:r>
            <a:endParaRPr lang="en-US" sz="2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4032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73.5%</a:t>
            </a:r>
            <a:endParaRPr lang="en-US" sz="6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381950"/>
            <a:ext cx="4032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국가 배출량의 약 3/4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931920"/>
            <a:ext cx="4032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약 800여 개 대기업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4423302"/>
            <a:ext cx="4032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2E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발전·철강·시멘트·</a:t>
            </a:r>
            <a:endParaRPr lang="en-US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F5F2E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석유화학·정유 등</a:t>
            </a:r>
            <a:endParaRPr lang="en-US" sz="2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18304" y="1554480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ETS 외부</a:t>
            </a:r>
            <a:endParaRPr lang="en-US" sz="1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18304" y="2377440"/>
            <a:ext cx="1453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26.5%</a:t>
            </a:r>
            <a:endParaRPr lang="en-US" sz="3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18304" y="3200400"/>
            <a:ext cx="145389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개인 차량,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주거건물,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농축산,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중소사업장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92240" y="1371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이 분류가 중요한 이유</a:t>
            </a:r>
            <a:endParaRPr lang="en-US" sz="2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92240" y="1874520"/>
            <a:ext cx="5486400" cy="11887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0" y="1874520"/>
            <a:ext cx="73152" cy="118872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75120" y="2011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① ETS 내부 = 가격 정책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75120" y="23774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탄소에</a:t>
            </a:r>
            <a:r>
              <a:rPr lang="en-US" sz="17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가격(2025년 8~10천 원/톤) 부과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→ 시장이 알아서 감축 유도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92240" y="3154680"/>
            <a:ext cx="5486400" cy="11887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92240" y="3154680"/>
            <a:ext cx="73152" cy="118872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75120" y="3291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② ETS 외부 = 비가격 정책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75120" y="36576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보조금·규제·인증</a:t>
            </a:r>
            <a:r>
              <a:rPr lang="en-US" sz="17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등 ‘다른 수단’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→ 전기차 보조금, 그린리모델링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92240" y="4434840"/>
            <a:ext cx="5486400" cy="11887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92240" y="4434840"/>
            <a:ext cx="73152" cy="118872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5120" y="45720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③ 시민 일상 = 대부분 ETS 외부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75120" y="49377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자가용·아파트·식생활</a:t>
            </a:r>
            <a:r>
              <a:rPr lang="en-US" sz="17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모두 ETS 밖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→ EU 2027 ETS2(건물·수송) 시행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85800" y="59586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97280" y="59586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시민은 대부분 ‘ETS 외부’에 거주 → ‘시민 정책’이 따로 필요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5929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84151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84151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8471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K-ETS 작동 원리 — Cap-and-Trade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97266" y="320040"/>
            <a:ext cx="272544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「온실가스 배출권법」(2015), ICAP (2024)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9871" y="12344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‘총량 제한(Cap)’ + ‘거래 허용(Trade)’ 두 축으로 구성</a:t>
            </a:r>
            <a:endParaRPr lang="en-US" sz="2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4151" y="1691640"/>
            <a:ext cx="2148840" cy="31089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4151" y="1691640"/>
            <a:ext cx="214884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4151" y="1874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①</a:t>
            </a:r>
            <a:endParaRPr lang="en-US" sz="4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5591" y="2606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총량 결정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0377" y="32004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정부, 5년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단위</a:t>
            </a: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계획기간의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배출 총량(Cap) 결정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점진적 축소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13905" y="3063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▸</a:t>
            </a:r>
            <a:endParaRPr lang="en-US" sz="2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915871" y="1691640"/>
            <a:ext cx="2148840" cy="31089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915871" y="1691640"/>
            <a:ext cx="214884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15871" y="1874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②</a:t>
            </a:r>
            <a:endParaRPr lang="en-US" sz="4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07311" y="2606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배출권 배분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04549" y="3200400"/>
            <a:ext cx="216771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사업장별로 배출권(KAU) </a:t>
            </a:r>
            <a:r>
              <a:rPr lang="en-US" sz="1600" spc="-1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배분</a:t>
            </a:r>
            <a:r>
              <a:rPr lang="en-US" altLang="ko-KR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, </a:t>
            </a:r>
            <a:r>
              <a:rPr lang="en-US" sz="1600" spc="-1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무상</a:t>
            </a:r>
            <a:r>
              <a:rPr lang="en-US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/</a:t>
            </a:r>
            <a:r>
              <a:rPr lang="en-US" sz="1600" spc="-1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유상</a:t>
            </a:r>
            <a:r>
              <a:rPr lang="en-US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(</a:t>
            </a:r>
            <a:r>
              <a:rPr lang="en-US" sz="1600" spc="-1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경매</a:t>
            </a:r>
            <a:r>
              <a:rPr lang="en-US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) </a:t>
            </a:r>
            <a:r>
              <a:rPr lang="en-US" sz="1600" spc="-1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혼합</a:t>
            </a:r>
            <a:r>
              <a:rPr lang="en-US" altLang="ko-KR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,</a:t>
            </a:r>
            <a:endParaRPr lang="en-US" sz="1600" spc="-1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과거</a:t>
            </a: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배출 또는 BM 기준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45625" y="3063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▸</a:t>
            </a:r>
            <a:endParaRPr lang="en-US" sz="2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47591" y="1691640"/>
            <a:ext cx="2148840" cy="31089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247591" y="1691640"/>
            <a:ext cx="214884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47591" y="1874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③</a:t>
            </a:r>
            <a:endParaRPr lang="en-US" sz="4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39031" y="2606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측정·보고·검증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55138" y="3200400"/>
            <a:ext cx="214883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사업장이 실제 </a:t>
            </a:r>
            <a:r>
              <a:rPr lang="en-US" sz="1600" spc="-1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배출량</a:t>
            </a:r>
            <a:r>
              <a:rPr lang="en-US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spc="-1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측정</a:t>
            </a:r>
            <a:r>
              <a:rPr lang="en-US" altLang="ko-KR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, </a:t>
            </a:r>
            <a:r>
              <a:rPr lang="en-US" sz="1600" spc="-1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외부</a:t>
            </a:r>
            <a:r>
              <a:rPr lang="en-US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spc="-1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검증기관</a:t>
            </a:r>
            <a:r>
              <a:rPr lang="en-US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spc="-1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검증</a:t>
            </a:r>
            <a:r>
              <a:rPr lang="en-US" altLang="ko-KR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,</a:t>
            </a:r>
            <a:br>
              <a:rPr lang="en-US" altLang="ko-KR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</a:b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환경부</a:t>
            </a: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보고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00205" y="3063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▸</a:t>
            </a:r>
            <a:endParaRPr lang="en-US" sz="2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579311" y="1691640"/>
            <a:ext cx="2148840" cy="31089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579311" y="1691640"/>
            <a:ext cx="214884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579311" y="1874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④</a:t>
            </a:r>
            <a:endParaRPr lang="en-US" sz="4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670751" y="2606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거래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579311" y="32004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부족 → KRX에서 구매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잉여 → 시장에 매각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이월·차입 일부 허용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731925" y="3063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▸</a:t>
            </a:r>
            <a:endParaRPr lang="en-US" sz="2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911031" y="1691640"/>
            <a:ext cx="2148840" cy="31089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911031" y="1691640"/>
            <a:ext cx="214884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911031" y="1874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⑤</a:t>
            </a:r>
            <a:endParaRPr lang="en-US" sz="4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002471" y="2606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제출·정산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907257" y="3200400"/>
            <a:ext cx="215261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매년 8월 31일까지 제출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미이행 시 과징금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(시장가의 3배)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84151" y="5029200"/>
            <a:ext cx="11430000" cy="960120"/>
          </a:xfrm>
          <a:prstGeom prst="rect">
            <a:avLst/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12751" y="5191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핵심 개념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641551" y="5156152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탄소에 ‘가격’이 붙으면 → 줄일수록 이득 → 시장이 알아서 가장 싼 감축 옵션부터 실행 (비용효율적 감축)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641551" y="5521912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‘쓰레기 봉투’ 비유 — 정해진 봉투 수를 나눠주고, 적게 쓰는 집은 봉투를 팔아 돈을 벌 수 있게 만든 구조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29871" y="623301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41351" y="623301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Cap-and-Trade — 총량은 정부가, 가격은 시장이 결정</a:t>
            </a:r>
            <a:endParaRPr lang="en-US" sz="2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K-ETS 시장 현황</a:t>
            </a:r>
            <a:endParaRPr lang="en-US" sz="2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930936" y="320040"/>
            <a:ext cx="3047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ICAP K-ETS Factsheet (2024), </a:t>
            </a:r>
            <a:b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</a:br>
            <a:r>
              <a:rPr lang="en-US" sz="1300" i="1" dirty="0" err="1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환경부</a:t>
            </a: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「제4차 할당계획안」 (2025.9)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947173320"/>
              </p:ext>
            </p:extLst>
          </p:nvPr>
        </p:nvGraphicFramePr>
        <p:xfrm>
          <a:off x="594360" y="1280160"/>
          <a:ext cx="61264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97380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84A3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EU ETS 대비 약 1/10 수준 (EU 2025년 약 10만 원/톤)</a:t>
            </a:r>
            <a:endParaRPr lang="en-US" sz="1500" i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903720" y="1280160"/>
            <a:ext cx="5120640" cy="39319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08660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핵심 시장 통계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040880" y="1883664"/>
            <a:ext cx="4846320" cy="438912"/>
          </a:xfrm>
          <a:prstGeom prst="rect">
            <a:avLst/>
          </a:prstGeom>
          <a:solidFill>
            <a:srgbClr val="EAEEF7"/>
          </a:solidFill>
          <a:ln w="12700">
            <a:solidFill>
              <a:srgbClr val="EAEEF7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1780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할당대상업체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9212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약 735개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17804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2023년 검증배출량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92124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549.9 Mt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040880" y="2798064"/>
            <a:ext cx="4846320" cy="438912"/>
          </a:xfrm>
          <a:prstGeom prst="rect">
            <a:avLst/>
          </a:prstGeom>
          <a:solidFill>
            <a:srgbClr val="EAEEF7"/>
          </a:solidFill>
          <a:ln w="12700">
            <a:solidFill>
              <a:srgbClr val="EAEEF7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7804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이행준수율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9212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100%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17804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2024년 경매 물량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9212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1,875만 톤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40880" y="3712464"/>
            <a:ext cx="4846320" cy="438912"/>
          </a:xfrm>
          <a:prstGeom prst="rect">
            <a:avLst/>
          </a:prstGeom>
          <a:solidFill>
            <a:srgbClr val="EAEEF7"/>
          </a:solidFill>
          <a:ln w="12700">
            <a:solidFill>
              <a:srgbClr val="EAEEF7"/>
            </a:solidFill>
            <a:prstDash val="solid"/>
          </a:ln>
        </p:spPr>
        <p:txBody>
          <a:bodyPr/>
          <a:lstStyle/>
          <a:p>
            <a:endParaRPr lang="en-US" sz="17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17804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거래소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92124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KRX (한국거래소)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17804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현재 단위 가격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92124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8~10천 원/톤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94360" y="5402508"/>
            <a:ext cx="11430000" cy="594360"/>
          </a:xfrm>
          <a:prstGeom prst="rect">
            <a:avLst/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46740" y="54533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제4기 (2026~2030) 핵심 변화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481380" y="5453332"/>
            <a:ext cx="84959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① 발전 유상할당 50%까지 단계 </a:t>
            </a:r>
            <a:r>
              <a:rPr lang="en-US" sz="1500" dirty="0" err="1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상향</a:t>
            </a:r>
            <a:r>
              <a:rPr lang="en-US" sz="1500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② 한국형 시장안정화제도(K-MSR) </a:t>
            </a:r>
            <a:r>
              <a:rPr lang="en-US" sz="1500" dirty="0" err="1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도입</a:t>
            </a:r>
            <a:r>
              <a:rPr lang="en-US" sz="1500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 ③ 벤치마크 계수 40% 강화</a:t>
            </a:r>
            <a:endParaRPr lang="en-US" sz="15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85800" y="624944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097280" y="624944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한국 탄소가격 — EU의 1/10 · 제4기에 본격 강화 예정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ETS 외부 — 수송·건물·농축수산·중소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68287" y="320040"/>
            <a:ext cx="271035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환경부 K-ETS 운영지침, EU Commission ETS2 (2023~)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국가 배출의 약 26.5% · 가격 아닌 ‘다른 방식’으로 줄여야 함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5486400" cy="17830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1691640"/>
            <a:ext cx="91440" cy="178308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1793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수송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45742" y="180349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거의 전부 ETS 외부</a:t>
            </a:r>
            <a:endParaRPr lang="en-US" sz="1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개인 자가용 = 100% ETS 외부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→ 보조금·세제·연비규제·충전인프라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012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핵심 정책: 전기차 보조금, 자동차세 개편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5486400" cy="17830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0" y="1691640"/>
            <a:ext cx="91440" cy="178308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75120" y="1793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건물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60742" y="180349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대부분 ETS 외부</a:t>
            </a:r>
            <a:endParaRPr lang="en-US" sz="1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75120" y="22860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주거·소상공 건물 대부분 ETS 외부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→ 에너지효율 규제·ZEB·그린리모델링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7512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핵심 정책: ZEB 의무화, 그린리모델링 지원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3657600"/>
            <a:ext cx="5486400" cy="17830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5800" y="3657600"/>
            <a:ext cx="91440" cy="178308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120" y="3759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농축수산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245742" y="37694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100% ETS 외부</a:t>
            </a:r>
            <a:endParaRPr lang="en-US" sz="1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0120" y="42519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100% ETS 외부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→ 영농기법 개선·저메탄사료·직불제·인증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0120" y="5029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핵심 정책: 친환경직불제, 저탄소 인증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3657600"/>
            <a:ext cx="5486400" cy="17830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0" y="3657600"/>
            <a:ext cx="91440" cy="178308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5120" y="3759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중소사업장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960742" y="37694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사실상 사각지대</a:t>
            </a:r>
            <a:endParaRPr lang="en-US" sz="1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75120" y="42519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ETS 기준(연 12.5만 톤) 미달 사업장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→ 자발적 협약·진단·지원금 (강제력 약함)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75120" y="5029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핵심 정책: 온실가스·에너지 진단 지원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5800" y="5887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97280" y="58876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EU 2027년 ETS2(건물·수송) 시행 · 한국도 유사 논의 진행 중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감축수단 4가지 분류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428084" y="320040"/>
            <a:ext cx="25505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OECD (2019) Aligning Policies for a Low-carbon Economy 등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어떤 수단이든 결국 네 가지 큰 유형 중 하나에 속함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720496"/>
            <a:ext cx="5486400" cy="17830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1744908"/>
            <a:ext cx="91440" cy="178308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18363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① 가격 정책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37500" y="186511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Pricing</a:t>
            </a:r>
            <a:endParaRPr lang="en-US" sz="1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0120" y="216792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   (</a:t>
            </a:r>
            <a:r>
              <a:rPr lang="en-US" sz="1600" dirty="0" err="1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탄소에</a:t>
            </a:r>
            <a:r>
              <a:rPr lang="en-US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가격을 매겨 시장이 알아서 </a:t>
            </a:r>
            <a:r>
              <a:rPr lang="en-US" sz="1600" dirty="0" err="1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감축</a:t>
            </a:r>
            <a:r>
              <a:rPr lang="en-US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유도</a:t>
            </a:r>
            <a:r>
              <a:rPr lang="en-US" altLang="ko-KR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)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61965" y="251593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E3F5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K-ETS · 탄소세 · 휘발유세</a:t>
            </a:r>
            <a:endParaRPr lang="en-US" sz="19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79712" y="31724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대상: 주로 ETS 내부 (발전·대형 산업)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0" y="1744908"/>
            <a:ext cx="5486400" cy="17830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0" y="1744908"/>
            <a:ext cx="91440" cy="178308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75120" y="18363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② 규제·기준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52500" y="186511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Standards</a:t>
            </a:r>
            <a:endParaRPr lang="en-US" sz="1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75120" y="215017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  (</a:t>
            </a:r>
            <a:r>
              <a:rPr lang="en-US" sz="1600" dirty="0" err="1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최소</a:t>
            </a:r>
            <a:r>
              <a:rPr lang="en-US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효율·금지·의무 기준을 </a:t>
            </a:r>
            <a:r>
              <a:rPr lang="en-US" sz="1600" dirty="0" err="1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법으로</a:t>
            </a:r>
            <a:r>
              <a:rPr lang="en-US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정함</a:t>
            </a:r>
            <a:r>
              <a:rPr lang="en-US" altLang="ko-KR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)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76965" y="253368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E3F5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내연차 연비규제 · ZEB 의무화</a:t>
            </a:r>
            <a:endParaRPr lang="en-US" sz="19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2E3F5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에너지효율등급 · 신재생 의무공급(RPS)</a:t>
            </a:r>
            <a:endParaRPr lang="en-US" sz="19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59200" y="319907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대상: ETS 안팎 모두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85800" y="3710868"/>
            <a:ext cx="5486400" cy="17830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5800" y="3710868"/>
            <a:ext cx="91440" cy="178308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0120" y="38023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③ 기술 지원·보조금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437500" y="383107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Subsidy &amp; R&amp;D</a:t>
            </a:r>
            <a:endParaRPr lang="en-US" sz="1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60120" y="411613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  (</a:t>
            </a:r>
            <a:r>
              <a:rPr lang="en-US" sz="1600" dirty="0" err="1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전환</a:t>
            </a:r>
            <a:r>
              <a:rPr lang="en-US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비용을 </a:t>
            </a:r>
            <a:r>
              <a:rPr lang="en-US" sz="1600" dirty="0" err="1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정부가</a:t>
            </a:r>
            <a:r>
              <a:rPr lang="en-US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분담</a:t>
            </a:r>
            <a:r>
              <a:rPr lang="en-US" altLang="ko-KR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)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61965" y="449964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E3F5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전기차 보조금 · 그린리모델링 지원</a:t>
            </a:r>
            <a:endParaRPr lang="en-US" sz="19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2E3F5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수소환원제철 R&amp;D · 신재생 보급사업</a:t>
            </a:r>
            <a:endParaRPr lang="en-US" sz="19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44200" y="51561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대상: 주로 ETS 외부 + 신기술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3710868"/>
            <a:ext cx="5486400" cy="17830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0" y="3710868"/>
            <a:ext cx="91440" cy="178308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75120" y="38023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④ 자발적·정보 정책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152500" y="383107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Voluntary</a:t>
            </a:r>
            <a:endParaRPr lang="en-US" sz="1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75120" y="411613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  (</a:t>
            </a:r>
            <a:r>
              <a:rPr lang="en-US" sz="1600" dirty="0" err="1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정보·인증으로</a:t>
            </a:r>
            <a:r>
              <a:rPr lang="en-US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시장 </a:t>
            </a:r>
            <a:r>
              <a:rPr lang="en-US" sz="1600" dirty="0" err="1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선택을</a:t>
            </a:r>
            <a:r>
              <a:rPr lang="en-US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유도</a:t>
            </a:r>
            <a:r>
              <a:rPr lang="en-US" altLang="ko-KR" sz="1600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)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976965" y="449964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E3F5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RE100 · 친환경 인증 · 탄소발자국</a:t>
            </a:r>
            <a:endParaRPr lang="en-US" sz="19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2E3F5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ESG 공시 · 자발적 협약</a:t>
            </a:r>
            <a:endParaRPr lang="en-US" sz="19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05932" y="514727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대상</a:t>
            </a:r>
            <a:r>
              <a:rPr lang="en-US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: 기업과 시민 자율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589655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97280" y="589655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효과적 감축 = 한 수단 ✗ · 정책 조합(policy mix) ✓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발전 부문 — 전기를 어디서 만드나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930936" y="320040"/>
            <a:ext cx="304770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에너지경제연구원(KEEI, 2024 실측), 제11차 전력수급기본계획(2025)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감축 분담 42.5% · 대부분 ETS 내부</a:t>
            </a:r>
            <a:endParaRPr lang="en-US" sz="2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572690291"/>
              </p:ext>
            </p:extLst>
          </p:nvPr>
        </p:nvGraphicFramePr>
        <p:xfrm>
          <a:off x="594360" y="1716944"/>
          <a:ext cx="6126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6903720" y="17169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4가지 유형이 발전부문에 작동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03720" y="2128424"/>
            <a:ext cx="5120640" cy="6858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903720" y="2174144"/>
            <a:ext cx="91440" cy="68580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086599" y="2202108"/>
            <a:ext cx="10719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① 가격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086600" y="25119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K-ETS 발전 유상할당 (2030년 50%까지)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903720" y="2951384"/>
            <a:ext cx="5120640" cy="6858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903720" y="2951384"/>
            <a:ext cx="91440" cy="68580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86599" y="2979348"/>
            <a:ext cx="10719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② 규제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086600" y="32891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신재생 의무공급(RPS), 석탄 환경급전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903720" y="3728624"/>
            <a:ext cx="5120640" cy="6858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903720" y="3728624"/>
            <a:ext cx="91440" cy="68580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086599" y="3756588"/>
            <a:ext cx="10719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③ 지원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086600" y="40664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재생에너지 보급사업, ESS·전력망 보강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903720" y="4505864"/>
            <a:ext cx="5120640" cy="6858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903720" y="4505864"/>
            <a:ext cx="91440" cy="68580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086599" y="4533828"/>
            <a:ext cx="10719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④ 자발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086600" y="48436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RE100, PPA 직접거래, 녹색요금제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85800" y="5897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9728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2024년 — 17년간 1위였던 석탄을 원전이 제침 · 재생은 OECD 최하위</a:t>
            </a:r>
            <a:endParaRPr lang="en-US" sz="2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산업 부문 — 공장의 굴뚝을 바꾸기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99612" y="320040"/>
            <a:ext cx="28790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환경부 GIR (2025.8), 산업부 「탄소중립 산업핵심기술개발사업」 (2024)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감축 분담 10.2% · 대형 사업장 ETS 내부 · 2024년 +0.5% 증가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4114800" cy="3931920"/>
          </a:xfrm>
          <a:prstGeom prst="rect">
            <a:avLst/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1812374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285.9</a:t>
            </a:r>
            <a:endParaRPr lang="en-US" sz="6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2024 배출 (백만 톤)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28800" y="3429000"/>
            <a:ext cx="1828800" cy="36576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61055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⚠ 전년 대비 +0.5%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415431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석유화학 +6.3%, 정유 +2.4%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생산 회복 · 원단위 개선 부진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4983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철강 한 업종 = 국가 전체의 약 15%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77262" y="1691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4가지 유형이 산업부문에 작동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74920" y="2148840"/>
            <a:ext cx="6949440" cy="7772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74920" y="2148840"/>
            <a:ext cx="91440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57799" y="2195890"/>
            <a:ext cx="1009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① 가격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57800" y="253235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K-ETS (산업 95% 무상 유지, 일부 유상), EU CBAM 대응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74920" y="3017520"/>
            <a:ext cx="6949440" cy="7772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74920" y="3017520"/>
            <a:ext cx="91440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57799" y="3064570"/>
            <a:ext cx="1009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② 규제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57800" y="340103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고효율기기 의무화, 산업 효율 진단, F-gas 규제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74920" y="3886200"/>
            <a:ext cx="6949440" cy="7772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74920" y="3886200"/>
            <a:ext cx="91440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57799" y="3933250"/>
            <a:ext cx="1009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③ 지원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57800" y="426971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탄소중립 산업핵심기술개발(6.7조 원), 수소환원제철 R&amp;D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74920" y="4754880"/>
            <a:ext cx="6949440" cy="7772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74920" y="4754880"/>
            <a:ext cx="91440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57799" y="4801930"/>
            <a:ext cx="1009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④ 자발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57800" y="513839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ESG 공시, 저탄소 제품 인증, 공급망 탄소관리, RE100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8142" y="586103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99622" y="586103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핵심 기술 — 수소환원제철(HyREX), NCC 전기화, 시멘트 CCUS, F-gas 대체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수송 부문 — 타고 다니는 것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27254" y="320040"/>
            <a:ext cx="365138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기후에너지환경부(2025.11), 제4차 </a:t>
            </a:r>
            <a:r>
              <a:rPr lang="en-US" sz="1300" i="1" dirty="0" err="1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친환경</a:t>
            </a:r>
            <a:b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</a:br>
            <a:r>
              <a:rPr lang="en-US" sz="1300" i="1" dirty="0" err="1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자동차</a:t>
            </a: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기본계획(2021), 2035 NDC(2025.11)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감축 분담 12.7% · 거의 전부 ETS 외부 · 보조금·규제·인프라가 핵심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709396"/>
            <a:ext cx="4114800" cy="3931920"/>
          </a:xfrm>
          <a:prstGeom prst="rect">
            <a:avLst/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179461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9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95만 대</a:t>
            </a:r>
            <a:endParaRPr lang="en-US" sz="5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6797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2025.11 누적 무공해차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28800" y="3182644"/>
            <a:ext cx="1828800" cy="36576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38949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9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450만 대</a:t>
            </a:r>
            <a:endParaRPr lang="en-US" sz="5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40841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2030년 목표 (전기차+수소차)</a:t>
            </a:r>
            <a:endParaRPr lang="en-US" sz="1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4490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⚠ 큰 격차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490091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향후 5년간 매년 70만 대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신규 보급 필요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74920" y="1691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4가지 유형이 수송부문에 작동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74920" y="2148840"/>
            <a:ext cx="6949440" cy="7772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74920" y="2148840"/>
            <a:ext cx="91440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57799" y="2169256"/>
            <a:ext cx="1125245" cy="309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① 가격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57800" y="254123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휘발유·경유 유류세, 자동차세 (배출량 기반 개편 논의)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74920" y="3017520"/>
            <a:ext cx="6949440" cy="7772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74920" y="3017520"/>
            <a:ext cx="91440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57799" y="3037936"/>
            <a:ext cx="1125245" cy="309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② 규제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57800" y="340991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친환경차 보급목표제, 평균연비·온실가스 규제, 노후 경유차 운행제한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74920" y="3886200"/>
            <a:ext cx="6949440" cy="7772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74920" y="3886200"/>
            <a:ext cx="91440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57799" y="3906616"/>
            <a:ext cx="1125245" cy="309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③ 지원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57800" y="427859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전기차·수소차 구매 보조금, 충전인프라 구축, 친환경 선박·SAF R&amp;D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74920" y="4754880"/>
            <a:ext cx="6949440" cy="7772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74920" y="4754880"/>
            <a:ext cx="91440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57799" y="4775296"/>
            <a:ext cx="1125245" cy="309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④ 자발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57800" y="514727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대중교통·자전거 캠페인, 친환경운전, 모빌리티 서비스(MaaS)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5800" y="5936943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97280" y="5936943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EU 신차 100% 무공해 2035 의무 · 한국도 신차 비중 2030년 40% 검토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건물 + 농축수산 — 작지만 중요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904303" y="320040"/>
            <a:ext cx="307433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환경부 GIR (2025.8), 「녹색건축물 조성지원법」, 「친환경농어업법」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감축 분담 5.9% + 2.3% · 거의 전부 ETS 외부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5486400" cy="40233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1691640"/>
            <a:ext cx="91440" cy="4023360"/>
          </a:xfrm>
          <a:prstGeom prst="rect">
            <a:avLst/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건물 부문 (감축 분담 5.9%)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2024 직접배출 43.6 백만 톤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2533686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① 가격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도시가스 요금 (탄소가격 미반영)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endParaRPr lang="en-US" sz="5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② 규제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제로에너지건축(ZEB) 의무화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건축물 에너지효율등급 인증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endParaRPr lang="en-US" sz="5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③ 지원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그린리모델링 이자 지원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고효율 가전·LED, 히트펌프·BIPV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endParaRPr lang="en-US" sz="5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④ 자발: BEMS·HEMS, 에너지소비 자발 공개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46520" y="1691640"/>
            <a:ext cx="5486400" cy="40233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46520" y="1691640"/>
            <a:ext cx="91440" cy="40233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7512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농축수산 부문 (감축 분담 2.3%)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7512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2024 배출 25.6 백만 톤 · 메탄·N₂O 중심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75120" y="2542564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① 가격: 사실상 없음 (탄소가격 비적용)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endParaRPr lang="en-US" sz="5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② 규제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비료·농약 적정 사용 기준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어선 노후기관 교체 의무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endParaRPr lang="en-US" sz="5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③ 지원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친환경직불제, 논물관리(AWD)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저메탄 사료·바이오차 보급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 · 가축분뇨 에너지화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endParaRPr lang="en-US" sz="5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④ 자발: 저탄소 농축산물 인증, 로컬푸드</a:t>
            </a:r>
            <a:endParaRPr 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59511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59511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공통 — ETS 미적용 · 가격 시그널 약함 → 보조금·규제 의존도 높음</a:t>
            </a:r>
            <a:endParaRPr lang="en-US" sz="2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내 일상과 직접 닿는 감축정책 8가지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915400" y="3200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9D0D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자료: 환경부·국토부·산업부·농식품부 정책자료 종합</a:t>
            </a:r>
            <a:endParaRPr lang="en-US" sz="1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198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보조금 · 세제 · 인증 · 캠페인 — 모두 시민 일상에서 작동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645920"/>
            <a:ext cx="2697480" cy="18745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269748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전기차 보조금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23193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A63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수송 / 지원금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260954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차당 수백만 원 지원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2025년 신규 20만 대 돌파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20440" y="1645920"/>
            <a:ext cx="2697480" cy="18745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20440" y="1645920"/>
            <a:ext cx="269748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03320" y="1810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자동차세 개편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03320" y="23193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A63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수송 / 가격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03320" y="260954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배기량 기반 → 배출량 기반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개편 논의 중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1645920"/>
            <a:ext cx="2697480" cy="18745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55080" y="1645920"/>
            <a:ext cx="269748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37960" y="1810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그린리모델링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37960" y="23193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A63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건물 / 지원금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260954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노후주택 단열·창호·보일러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이자 지원 (저금리 융자)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89720" y="1645920"/>
            <a:ext cx="2697480" cy="18745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89720" y="1645920"/>
            <a:ext cx="269748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372600" y="1810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에너지효율등급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372600" y="23193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A63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건물·가전 / 규제·정보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372600" y="260954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가전·건물 효율 등급 표시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1등급 가전, ZEB 인증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85800" y="3657600"/>
            <a:ext cx="2697480" cy="18745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85800" y="3657600"/>
            <a:ext cx="269748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68680" y="38221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RE100 (기업)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68680" y="43310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A63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발전·산업 / 자발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68680" y="462122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기업 사용전력 100%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재생에너지로 → 제품 선택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520440" y="3657600"/>
            <a:ext cx="2697480" cy="18745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520440" y="3657600"/>
            <a:ext cx="269748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703320" y="38221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탄소포인트제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703320" y="43310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A63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건물 / 자발+지원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703320" y="462122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전기·가스·물 절감 시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현금성 포인트 적립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55080" y="3657600"/>
            <a:ext cx="2697480" cy="18745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55080" y="3657600"/>
            <a:ext cx="269748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537960" y="38221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친환경 인증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537960" y="43310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A63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농수산·식품 / 정보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537960" y="462122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저탄소 농축산물·친환경 인증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→ 매대에서 라벨 확인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189720" y="3657600"/>
            <a:ext cx="2697480" cy="18745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189720" y="3657600"/>
            <a:ext cx="2697480" cy="73152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1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372600" y="38221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K-MaaS·대중교통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372600" y="43310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A63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수송 / 지원·자발</a:t>
            </a:r>
            <a:endParaRPr lang="en-US" sz="17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372600" y="462122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환승할인, 정기권, DRT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Calibri" pitchFamily="34" charset="-120"/>
              </a:rPr>
              <a:t>알뜰교통카드 등</a:t>
            </a:r>
            <a:endParaRPr lang="en-US" sz="15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A4660"/>
          </a:solidFill>
          <a:ln w="12700">
            <a:solidFill>
              <a:srgbClr val="3A4660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2E3F5F"/>
          </a:solidFill>
          <a:ln w="12700">
            <a:solidFill>
              <a:srgbClr val="2E3F5F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320040"/>
            <a:ext cx="118872" cy="777240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시민이 직접 움직일 수 있는 영역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6B728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선택 · 참여 · 옹호 — 정책만큼 강력한 시민의 힘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697480" cy="39319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🏠</a:t>
            </a:r>
            <a:endParaRPr lang="en-US" sz="5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집에서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874520" y="3520440"/>
            <a:ext cx="365760" cy="36576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2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559942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단열·창호 점검 후 </a:t>
            </a:r>
            <a:b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</a:b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그린리모델링</a:t>
            </a: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신청</a:t>
            </a:r>
            <a:endParaRPr lang="en-US" sz="16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오래된 가전 → 1등급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가전</a:t>
            </a:r>
            <a:endParaRPr lang="en-US" sz="16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도시가스 보일러 →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히트펌프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탄소포인트제 참여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20440" y="1737360"/>
            <a:ext cx="2697480" cy="39319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20440" y="2011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🚗</a:t>
            </a:r>
            <a:endParaRPr lang="en-US" sz="5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2044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이동할 때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09160" y="3520440"/>
            <a:ext cx="365760" cy="36576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2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20440" y="3559942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다음 차 →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전기·수소차</a:t>
            </a: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고려</a:t>
            </a:r>
            <a:endParaRPr lang="en-US" sz="16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대중교통·자전거·도보</a:t>
            </a: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확대</a:t>
            </a:r>
            <a:endParaRPr lang="en-US" sz="16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알뜰교통카드</a:t>
            </a: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활용</a:t>
            </a:r>
            <a:endParaRPr lang="en-US" sz="16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불필요 항공 이동 줄이기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737360"/>
            <a:ext cx="2697480" cy="39319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55080" y="2011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🛒</a:t>
            </a:r>
            <a:endParaRPr lang="en-US" sz="5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5508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장 볼 때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43800" y="3520440"/>
            <a:ext cx="365760" cy="36576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2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55080" y="3559942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저탄소 인증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농산물</a:t>
            </a: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선택</a:t>
            </a:r>
            <a:endParaRPr lang="en-US" sz="16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로컬푸드·제철식품</a:t>
            </a: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우선</a:t>
            </a:r>
            <a:endParaRPr lang="en-US" sz="16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육류 소비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빈도</a:t>
            </a: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조정</a:t>
            </a:r>
            <a:endParaRPr lang="en-US" sz="16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RE100 기업 제품 우선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189720" y="1737360"/>
            <a:ext cx="2697480" cy="393192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89720" y="20116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🗳️</a:t>
            </a:r>
            <a:endParaRPr lang="en-US" sz="5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8972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시민으로서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378440" y="3520440"/>
            <a:ext cx="365760" cy="36576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 sz="26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26245" y="3559942"/>
            <a:ext cx="2852395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지역 에너지·환경 정책에 </a:t>
            </a:r>
            <a:r>
              <a:rPr lang="en-US" sz="1600" spc="-1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의견</a:t>
            </a:r>
            <a:r>
              <a:rPr lang="en-US" sz="1600" spc="-1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spc="-1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제출</a:t>
            </a:r>
            <a:endParaRPr lang="en-US" sz="1600" spc="-1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spc="-1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spc="-1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공청회·주민설명회</a:t>
            </a: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참여</a:t>
            </a:r>
            <a:endParaRPr lang="en-US" sz="16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선거 시 기후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공약</a:t>
            </a: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비교</a:t>
            </a:r>
            <a:endParaRPr lang="en-US" sz="16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solidFill>
                <a:srgbClr val="1F293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endParaRPr lang="en-US" sz="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시민 RE100 캠페인 참여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5800" y="598533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▶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97280" y="598533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2E3F5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시민 선택 → 시장 변화 → 정책 변화</a:t>
            </a:r>
            <a:endParaRPr lang="en-US" sz="2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38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2156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기억할 것은 단 다섯 가지</a:t>
            </a:r>
            <a:endParaRPr lang="en-US" sz="2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92372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정리하며</a:t>
            </a:r>
            <a:endParaRPr lang="en-US" sz="4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914400" cy="54864"/>
          </a:xfrm>
          <a:prstGeom prst="rect">
            <a:avLst/>
          </a:prstGeom>
          <a:solidFill>
            <a:srgbClr val="E8A636"/>
          </a:solidFill>
          <a:ln w="12700">
            <a:solidFill>
              <a:srgbClr val="E8A636"/>
            </a:solidFill>
            <a:prstDash val="solid"/>
          </a:ln>
        </p:spPr>
        <p:txBody>
          <a:bodyPr/>
          <a:lstStyle/>
          <a:p>
            <a:endParaRPr 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11332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01</a:t>
            </a:r>
            <a:endParaRPr lang="en-US" sz="3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0" y="21768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세 </a:t>
            </a:r>
            <a:r>
              <a:rPr lang="en-US" sz="2100" b="1" dirty="0" err="1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가지</a:t>
            </a:r>
            <a:r>
              <a:rPr 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 </a:t>
            </a:r>
            <a:r>
              <a:rPr lang="ko-KR" alt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감축 공약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252480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D0D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2030 −40% / 2035 −53~61% (2025.11 확정) / 2050 넷제로 (법제화)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98200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02</a:t>
            </a:r>
            <a:endParaRPr lang="en-US" sz="3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11680" y="30454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산업·발전 = 배출량의 약 73%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0" y="339348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D0D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두 부문이 곧 K-ETS 적용 영역 · 가격 정책이 가장 강력하게 작동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85068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03</a:t>
            </a:r>
            <a:endParaRPr lang="en-US" sz="3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11680" y="391416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수송·건물·농축수산 = 대부분 ETS 외부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11680" y="4262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D0D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가격 아닌 보조금·규제·인증 등 ‘다른 수단’ 필요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471936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04</a:t>
            </a:r>
            <a:endParaRPr lang="en-US" sz="3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11680" y="478284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감축 수단 = 4가지 — 가격·규제·지원·자발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11680" y="513084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D0D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한 수단으로는 불충분 · 정책 조합(policy mix)이 핵심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558804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A63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05</a:t>
            </a:r>
            <a:endParaRPr lang="en-US" sz="3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11680" y="56515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Calibri" pitchFamily="34" charset="-120"/>
              </a:rPr>
              <a:t>시민 = ETS 외부에 거주</a:t>
            </a:r>
            <a:endParaRPr lang="en-US" sz="2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011680" y="59995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D0D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alibri" pitchFamily="34" charset="-120"/>
              </a:rPr>
              <a:t>시민이 만나는 정책 = 보조금·인증·세제·캠페인이 대부분</a:t>
            </a:r>
            <a:endParaRPr 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38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BA690D-6B39-7A1E-DE36-412C7CFD37C4}"/>
              </a:ext>
            </a:extLst>
          </p:cNvPr>
          <p:cNvSpPr txBox="1">
            <a:spLocks/>
          </p:cNvSpPr>
          <p:nvPr/>
        </p:nvSpPr>
        <p:spPr>
          <a:xfrm>
            <a:off x="0" y="1916833"/>
            <a:ext cx="6454066" cy="893961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57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감사합니다</a:t>
            </a:r>
            <a:endParaRPr lang="ko-KR" altLang="en-US" sz="57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21C4A18-58AF-E9A3-4ABE-76BEFA74C856}"/>
              </a:ext>
            </a:extLst>
          </p:cNvPr>
          <p:cNvSpPr/>
          <p:nvPr/>
        </p:nvSpPr>
        <p:spPr>
          <a:xfrm>
            <a:off x="1991544" y="4941169"/>
            <a:ext cx="8352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홍익대학교 유종민</a:t>
            </a:r>
            <a:endParaRPr lang="en-US" altLang="ko-KR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endParaRPr lang="en-US" altLang="ko-KR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en-US" altLang="ko-KR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Email : yucono@hongik.ac.kr</a:t>
            </a:r>
          </a:p>
          <a:p>
            <a:r>
              <a:rPr lang="en-US" altLang="ko-KR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Tel: 010-2234-5887</a:t>
            </a:r>
            <a:endParaRPr lang="ko-KR" altLang="en-US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6E14D2B9-C300-9728-9499-542D76922B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Marker/>
                    </a14:imgEffect>
                    <a14:imgEffect>
                      <a14:sharpenSoften amount="-85000"/>
                    </a14:imgEffect>
                    <a14:imgEffect>
                      <a14:saturation sat="10000"/>
                    </a14:imgEffect>
                    <a14:imgEffect>
                      <a14:brightnessContrast bright="-18000" contrast="-4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619" y="836712"/>
            <a:ext cx="3975242" cy="2448272"/>
          </a:xfrm>
          <a:prstGeom prst="rect">
            <a:avLst/>
          </a:prstGeom>
          <a:ln>
            <a:noFill/>
          </a:ln>
          <a:effectLst>
            <a:softEdge rad="2794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2468</Words>
  <Application>Microsoft Office PowerPoint</Application>
  <PresentationFormat>와이드스크린</PresentationFormat>
  <Paragraphs>497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KoPub돋움체 Medium</vt:lpstr>
      <vt:lpstr>KoPub돋움체 Light</vt:lpstr>
      <vt:lpstr>Arial</vt:lpstr>
      <vt:lpstr>KoPub돋움체 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우리의 탄소중립 (템플릿 적용)</dc:title>
  <dc:subject>PptxGenJS Presentation</dc:subject>
  <dc:creator>환경에너지경제학 강의</dc:creator>
  <cp:lastModifiedBy>KEI</cp:lastModifiedBy>
  <cp:revision>84</cp:revision>
  <dcterms:created xsi:type="dcterms:W3CDTF">2026-05-23T05:08:55Z</dcterms:created>
  <dcterms:modified xsi:type="dcterms:W3CDTF">2026-06-01T07:40:43Z</dcterms:modified>
</cp:coreProperties>
</file>