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1554480" cy="32918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17220"/>
            <a:ext cx="1499616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검증 발표자료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669280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t>운영규정과 의제는</a:t>
            </a:r>
          </a:p>
          <a:p>
            <a:pPr algn="l"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t>어떻게 결론이 되었나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6583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입력데이터 반영 범위와 토론→투표→통합→결론의 연결성을 분리해 보여주는 보조 발표자료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914400"/>
            <a:ext cx="388620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243584"/>
            <a:ext cx="3017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algun Gothic"/>
              </a:defRPr>
            </a:pPr>
            <a:r>
              <a:t>핵심 답변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31546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Malgun Gothic"/>
              </a:defRPr>
            </a:pPr>
            <a:r>
              <a:t>A조만 부각?  아니다</a:t>
            </a:r>
          </a:p>
          <a:p>
            <a:pPr algn="l">
              <a:defRPr sz="1700" b="0">
                <a:solidFill>
                  <a:srgbClr val="1F2937"/>
                </a:solidFill>
                <a:latin typeface="Malgun Gothic"/>
              </a:defRPr>
            </a:pPr>
            <a:r>
              <a:t>모든 데이터 완전 반영?  아니다, gap 3건 표시</a:t>
            </a:r>
          </a:p>
          <a:p>
            <a:pPr algn="l">
              <a:defRPr sz="1700" b="0">
                <a:solidFill>
                  <a:srgbClr val="1F2937"/>
                </a:solidFill>
                <a:latin typeface="Malgun Gothic"/>
              </a:defRPr>
            </a:pPr>
            <a:r>
              <a:t>결론 연결?  가능하다, 단 투표/통합 단계까지 보여줘야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886200"/>
            <a:ext cx="3063240" cy="6949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F766E"/>
                </a:solidFill>
                <a:latin typeface="Malgun Gothic"/>
              </a:defRPr>
            </a:pPr>
            <a:r>
              <a:t>프레이밍: 숙의가 기준과 선택지를 만들고, 투표와 통합 판단이 결론을 고정했다.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1. 입력데이터 반영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공개 메뉴와 source coverage를 분리해서 확인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1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Malgun Gothic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원본 파일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0876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27631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0F766E"/>
                </a:solidFill>
                <a:latin typeface="Malgun Gothic"/>
              </a:defRPr>
            </a:pPr>
            <a:r>
              <a:t>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00253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coverage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50876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627631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0F766E"/>
                </a:solidFill>
                <a:latin typeface="Malgun Gothic"/>
              </a:defRPr>
            </a:pPr>
            <a:r>
              <a:t>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00253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coverage edges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50876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627631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15803D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00253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ready sessions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150876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1627631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BE123C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7" y="200253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partial/gap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80360"/>
            <a:ext cx="52120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063240"/>
            <a:ext cx="14630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algun Gothic"/>
              </a:defRPr>
            </a:pPr>
            <a:r>
              <a:t>공개 메뉴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493008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기본값: final-process-to-conclusion-0704</a:t>
            </a:r>
          </a:p>
          <a:p>
            <a:pPr algn="l"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노출 source: 6개</a:t>
            </a:r>
          </a:p>
          <a:p>
            <a:pPr algn="l"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live-A_t1 노출: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880360"/>
            <a:ext cx="48920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063240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500" b="1">
                <a:solidFill>
                  <a:srgbClr val="BE123C"/>
                </a:solidFill>
                <a:latin typeface="Malgun Gothic"/>
              </a:defRPr>
            </a:pPr>
            <a:r>
              <a:t>남은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29584"/>
            <a:ext cx="41605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6/14 B조 토론2, 6/14 토론4 통합 운영, 음성 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Malgun Gothic"/>
              </a:defRPr>
            </a:pPr>
            <a:r>
              <a:t>따라서 `A-only` 위험은 해소됐지만, `완전 반영 완료`라고는 말하지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2. 결론 도출과정의 정확한 말하기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끝장토론 결론이 아니라 숙의-투표-통합의 연결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93976"/>
            <a:ext cx="438912" cy="329184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44268"/>
            <a:ext cx="384048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103120"/>
            <a:ext cx="1325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41448"/>
            <a:ext cx="1810512" cy="493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사전 제안, 원본 음성·문서, 조별 토론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542032"/>
            <a:ext cx="1188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196596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093976"/>
            <a:ext cx="438912" cy="329184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1" y="2144268"/>
            <a:ext cx="384048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103120"/>
            <a:ext cx="1325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숙의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441448"/>
            <a:ext cx="1810512" cy="493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쟁점·조건·후보를 만들고 압축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2542032"/>
            <a:ext cx="1188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196596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94960" y="2093976"/>
            <a:ext cx="438912" cy="329184"/>
          </a:xfrm>
          <a:prstGeom prst="round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2392" y="2144268"/>
            <a:ext cx="384048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103120"/>
            <a:ext cx="1325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투표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441448"/>
            <a:ext cx="1810512" cy="493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선택지에 대한 선호와 정족수 확인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2542032"/>
            <a:ext cx="1188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43800" y="196596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0" y="2093976"/>
            <a:ext cx="438912" cy="329184"/>
          </a:xfrm>
          <a:prstGeom prst="roundRect">
            <a:avLst/>
          </a:prstGeom>
          <a:solidFill>
            <a:srgbClr val="4F46E5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144268"/>
            <a:ext cx="384048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103120"/>
            <a:ext cx="1325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통합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441448"/>
            <a:ext cx="1810512" cy="493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겹치는 후보와 분과 구조를 정리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92640" y="2542032"/>
            <a:ext cx="11887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9800" y="1965960"/>
            <a:ext cx="214884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2093976"/>
            <a:ext cx="438912" cy="329184"/>
          </a:xfrm>
          <a:prstGeom prst="roundRect">
            <a:avLst/>
          </a:prstGeom>
          <a:solidFill>
            <a:srgbClr val="BE123C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2144268"/>
            <a:ext cx="384048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8168" y="2103120"/>
            <a:ext cx="13258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441448"/>
            <a:ext cx="1810512" cy="493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운영규정과 의제 발표자료로 고정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297680"/>
            <a:ext cx="10058400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Malgun Gothic"/>
              </a:defRPr>
            </a:pPr>
            <a:r>
              <a:t>발표 문장: “토론이 결론을 바로 낸 것이 아니라, 토론이 투표 가능한 기준과 선택지를 만들었고 투표와 통합 판단으로 최종 결론이 확정되었습니다.”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3. 운영규정: 쟁점에서 규정으로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조별/전체 논의 뒤 투표로 확정된 항목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493776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490472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417320"/>
            <a:ext cx="2057400" cy="493776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5656" y="1490472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최종값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1417320" cy="493776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490472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투표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417320"/>
            <a:ext cx="1554480" cy="493776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5" y="1490472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토론맥락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417320"/>
            <a:ext cx="2148840" cy="493776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5" y="1490472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표현 방식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38528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011680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기획참여단 의결정족수 = 출석 2/3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1938528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2011680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출석 2/3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938528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2011680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2차 투표 14/18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1938528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5" y="2011680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5건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938528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5" y="2011680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468880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542032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숙의참여단 분과 구성 = 분과를 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468880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5656" y="2542032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분과를 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468880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2542032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1차 투표 13/18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468880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0375" y="2542032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3건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468880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5" y="2542032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2999232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3072384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분과 개수 = 3개 분과(감축1·감축2·적응)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2999232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5656" y="3072384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3개 분과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999232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3072384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결선 13/18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800" y="2999232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0375" y="3072384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1건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299923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4855" y="3072384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3529584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3602736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숙의참여단 분과 의결정족수 = 출석 2/3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80" y="3529584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05656" y="3602736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출석 2/3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529584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6" y="3602736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결선 15/18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3529584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0375" y="3602736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1건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3529584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34855" y="3602736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059936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" y="4133088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숙의참여단 전체 의결정족수 = 출석 2/3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69080" y="4059936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05656" y="4133088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출석 2/3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4059936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63056" y="4133088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2차 투표 14/18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43800" y="4059936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0375" y="4133088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1건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98280" y="4059936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34855" y="4133088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4590288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" y="4663440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의제 기준 14조 1항 = 직·간접 관련으로 확장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9080" y="4590288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05656" y="4663440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직·간접 관련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4590288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63056" y="4663440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17/18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43800" y="4590288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80375" y="4663440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4건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98280" y="4590288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34855" y="4663440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5120640"/>
            <a:ext cx="34747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" y="5193792"/>
            <a:ext cx="34015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Malgun Gothic"/>
              </a:defRPr>
            </a:pPr>
            <a:r>
              <a:t>의제 기준 14조 3항 = 시민의 삶·일상 실천 유지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069080" y="5120640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05656" y="5193792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현행 유지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0" y="5120640"/>
            <a:ext cx="141732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3056" y="5193792"/>
            <a:ext cx="134416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16/18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43800" y="5120640"/>
            <a:ext cx="15544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80375" y="5193792"/>
            <a:ext cx="14813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2건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98280" y="5120640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34855" y="5193792"/>
            <a:ext cx="2075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1F2937"/>
                </a:solidFill>
                <a:latin typeface="Malgun Gothic"/>
              </a:defRPr>
            </a:pPr>
            <a:r>
              <a:t>논의→투표→규정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5788152"/>
            <a:ext cx="106070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500" b="1">
                <a:solidFill>
                  <a:srgbClr val="0F766E"/>
                </a:solidFill>
                <a:latin typeface="Malgun Gothic"/>
              </a:defRPr>
            </a:pPr>
            <a:r>
              <a:t>운영규정은 정족수·분과·의제 기준을 투표 결과와 함께 설명할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4. 의제 선정: 690건에서 후보와 분과로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접수·학습·숙의·평가를 거쳐 발표 의제로 압축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Malgun Gothic"/>
              </a:defRPr>
            </a:pPr>
            <a:r>
              <a:t>690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5681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사전 접수 의제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6304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581912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0F766E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95681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평가 후보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581912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4F46E5"/>
                </a:solidFill>
                <a:latin typeface="Malgun Gothic"/>
              </a:defRPr>
            </a:pPr>
            <a: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195681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기획참여단 응답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463040"/>
            <a:ext cx="1965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581912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2000" b="1">
                <a:solidFill>
                  <a:srgbClr val="B45309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1956816"/>
            <a:ext cx="174650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분과/의제 슬롯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880360"/>
            <a:ext cx="103784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15468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의제 선정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75887"/>
            <a:ext cx="94183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Malgun Gothic"/>
              </a:defRPr>
            </a:pPr>
            <a:r>
              <a:t>기후위기 직·간접 관련성 / 법령 부합 / 시민 일상 실천 가능성 / 사회적 합의 필요성 / 대안 비교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60520"/>
            <a:ext cx="8961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algun Gothic"/>
              </a:defRPr>
            </a:pPr>
            <a:r>
              <a:t>운영규정 제14조 기준이 의제 선정의 필터 역할을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5. 의제 3개: 현재 발표덱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상위 숙의의제 PPTX는 3개 의제를 별도 슬라이드로 제시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64208"/>
            <a:ext cx="868680" cy="329184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14500"/>
            <a:ext cx="813815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788920" cy="7132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전 생애주기 탄소중립 교육 체계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28346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1">
                <a:solidFill>
                  <a:srgbClr val="0F766E"/>
                </a:solidFill>
                <a:latin typeface="Malgun Gothic"/>
              </a:defRPr>
            </a:pPr>
            <a:r>
              <a:t>현재 숙의의제 발표덱에 별도 의제로 제시 · deck 13쪽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83464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사전 접수와 조별 숙의에서 교육 필요성이 반복됨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투표에서 가장 앞선 후보로 확인됨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현재 숙의의제 발표덱 13쪽에서 별도 의제로 설명됨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33756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664208"/>
            <a:ext cx="868680" cy="329184"/>
          </a:xfrm>
          <a:prstGeom prst="roundRect">
            <a:avLst/>
          </a:prstGeom>
          <a:solidFill>
            <a:srgbClr val="4F46E5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14500"/>
            <a:ext cx="813815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공동 2위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148840"/>
            <a:ext cx="2788920" cy="7132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시민의식 개선 · 참여 활성화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44368"/>
            <a:ext cx="28346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현재 숙의의제 발표덱에 별도 의제로 제시 · deck 14쪽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29000"/>
            <a:ext cx="283464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시민의식 개선과 참여 활성화 맥락이 교육·거버넌스 논의와 연결됨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투표에서 공동 2위권 후보로 확인됨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현재 숙의의제 발표덱 14쪽에서 별도 의제로 설명됨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333756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1664208"/>
            <a:ext cx="868680" cy="329184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714500"/>
            <a:ext cx="813815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공동 2위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788920" cy="7132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자원순환 · 생활폐기물 감축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944368"/>
            <a:ext cx="28346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Malgun Gothic"/>
              </a:defRPr>
            </a:pPr>
            <a:r>
              <a:t>현재 숙의의제 발표덱에 별도 의제로 제시 · deck 15쪽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29000"/>
            <a:ext cx="2834640" cy="1325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A조 자원순환형 배달 문화와 B조 생활폐기물 감축 논의가 만남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투표에서 공동 2위권 후보로 확인됨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현재 숙의의제 발표덱 15쪽에서 별도 의제로 설명됨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870448"/>
            <a:ext cx="9966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300" b="1">
                <a:solidFill>
                  <a:srgbClr val="0F766E"/>
                </a:solidFill>
                <a:latin typeface="Malgun Gothic"/>
              </a:defRPr>
            </a:pPr>
            <a:r>
              <a:t>현재 숙의의제 발표덱 기준으로는 교육, 시민의식·참여, 자원순환이 각각 의제 3개로 보인다.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6. 의제별 근거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투표 근거와 토론 맥락을 같이 보여주기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2057400" cy="493776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490472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의제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417320"/>
            <a:ext cx="3063240" cy="493776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490472"/>
            <a:ext cx="2990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결론 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417320"/>
            <a:ext cx="1920240" cy="493776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51576" y="1490472"/>
            <a:ext cx="1847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투표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17320"/>
            <a:ext cx="1508760" cy="493776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5" y="1490472"/>
            <a:ext cx="143560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토론맥락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17320"/>
            <a:ext cx="2926080" cy="493776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90472"/>
            <a:ext cx="28529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해석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65960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039112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교육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965960"/>
            <a:ext cx="3063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8336" y="2039112"/>
            <a:ext cx="2990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전 생애주기 탄소중립 교육 체계 구축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1965960"/>
            <a:ext cx="1920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1576" y="2039112"/>
            <a:ext cx="1847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1위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965960"/>
            <a:ext cx="15087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5" y="2039112"/>
            <a:ext cx="143560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10건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965960"/>
            <a:ext cx="2926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2039112"/>
            <a:ext cx="28529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학습·다음세대·지역교육 논의가 투표 결과로 연결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624328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697480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시민의식·참여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624328"/>
            <a:ext cx="3063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2697480"/>
            <a:ext cx="2990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시민의식 개선 및 참여 활성화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2624328"/>
            <a:ext cx="1920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1576" y="2697480"/>
            <a:ext cx="1847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공동 2위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624328"/>
            <a:ext cx="15087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5" y="2697480"/>
            <a:ext cx="143560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12건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624328"/>
            <a:ext cx="2926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2697480"/>
            <a:ext cx="28529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일상 행동과 참여 활성화 논의가 별도 의제로 연결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282696"/>
            <a:ext cx="2057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3355848"/>
            <a:ext cx="198424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자원순환·폐기물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282696"/>
            <a:ext cx="3063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88336" y="3355848"/>
            <a:ext cx="2990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배달 문화와 생활폐기물 감축 통합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3282696"/>
            <a:ext cx="1920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51576" y="3355848"/>
            <a:ext cx="18470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공동 2위권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3282696"/>
            <a:ext cx="15087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71815" y="3355848"/>
            <a:ext cx="143560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12건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282696"/>
            <a:ext cx="2926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3355848"/>
            <a:ext cx="28529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소비·생활양식 논의를 감축1 의제로 연결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4754880"/>
            <a:ext cx="10287000" cy="7315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4983480"/>
            <a:ext cx="98755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300" b="1">
                <a:solidFill>
                  <a:srgbClr val="B45309"/>
                </a:solidFill>
                <a:latin typeface="Malgun Gothic"/>
              </a:defRPr>
            </a:pPr>
            <a:r>
              <a:t>권고: 3개 의제는 현재 숙의의제 발표덱 기준으로 말하고, v6 통합 시나리오 차이는 다음 장에서 별도 설명한다.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7. 자료 간 차이: v6 통합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교육+시민참여 통합과 감축2 새 슬롯은 별도 caveat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64208"/>
            <a:ext cx="868680" cy="329184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14500"/>
            <a:ext cx="813815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적응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788920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생애주기 탄소중립 교육 및 시민의식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1">
                <a:solidFill>
                  <a:srgbClr val="0F766E"/>
                </a:solidFill>
                <a:latin typeface="Malgun Gothic"/>
              </a:defRPr>
            </a:pPr>
            <a:r>
              <a:t>v6 시나리오상 통합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834640" cy="6583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사전 접수와 조별 숙의에서 교육·시민참여 맥락이 반복됨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교육 의제가 평가 1위, 시민참여 의제가 공동 2위로 확인됨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3375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664208"/>
            <a:ext cx="868680" cy="329184"/>
          </a:xfrm>
          <a:prstGeom prst="roundRect">
            <a:avLst/>
          </a:prstGeom>
          <a:solidFill>
            <a:srgbClr val="0891B2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14500"/>
            <a:ext cx="813815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감축1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130552"/>
            <a:ext cx="2788920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자원순환·생활폐기물 감축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16352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Malgun Gothic"/>
              </a:defRPr>
            </a:pPr>
            <a:r>
              <a:t>v6 시나리오상 확정 설명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10128"/>
            <a:ext cx="2834640" cy="6583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사전 접수 분석에서 소비·생활양식과 자원순환 흐름이 크게 나타남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A조 자원순환형 배달 문화와 B조 생활폐기물 감축 논의를 통합함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333756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1664208"/>
            <a:ext cx="868680" cy="329184"/>
          </a:xfrm>
          <a:prstGeom prst="roundRect">
            <a:avLst/>
          </a:prstGeom>
          <a:solidFill>
            <a:srgbClr val="BE123C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714500"/>
            <a:ext cx="813815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감축2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130552"/>
            <a:ext cx="2788920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Malgun Gothic"/>
              </a:defRPr>
            </a:pPr>
            <a:r>
              <a:t>새로운 의제 슬롯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16352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900" b="1">
                <a:solidFill>
                  <a:srgbClr val="BE123C"/>
                </a:solidFill>
                <a:latin typeface="Malgun Gothic"/>
              </a:defRPr>
            </a:pPr>
            <a:r>
              <a:t>v6 시나리오상 확정명 증거 부족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10128"/>
            <a:ext cx="2834640" cy="6583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시민의식 개선 후보가 교육 의제에 통합되며 세 번째 자리가 열림</a:t>
            </a:r>
          </a:p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- 발표 시나리오 7쪽·10쪽에 7.4 당일 확정 후 수정 표시가 남아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1014984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500" b="1">
                <a:solidFill>
                  <a:srgbClr val="BE123C"/>
                </a:solidFill>
                <a:latin typeface="Malgun Gothic"/>
              </a:defRPr>
            </a:pPr>
            <a:r>
              <a:t>따라서 발표에서는 `현재 숙의의제 덱 기준 3의제`와 `v6 시나리오의 통합/미확정 슬롯`을 섞어 말하지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8. 남은 검증 게이트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완전 반영 완료라고 말하기 전에 닫아야 할 항목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104241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728216"/>
            <a:ext cx="1143000" cy="329184"/>
          </a:xfrm>
          <a:prstGeom prst="roundRect">
            <a:avLst/>
          </a:prstGeom>
          <a:solidFill>
            <a:srgbClr val="BE123C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78507"/>
            <a:ext cx="1088136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B_t2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73351"/>
            <a:ext cx="2560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6/14 B조 토론2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700784"/>
            <a:ext cx="534924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상태: needs_review / 전사: transcript_partial / 그래프: graph_represented / 노드: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104241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871215"/>
            <a:ext cx="1143000" cy="329184"/>
          </a:xfrm>
          <a:prstGeom prst="roundRect">
            <a:avLst/>
          </a:prstGeom>
          <a:solidFill>
            <a:srgbClr val="BE123C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921508"/>
            <a:ext cx="1088136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토론4통합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816352"/>
            <a:ext cx="2560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6/14 토론4 통합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43784"/>
            <a:ext cx="534924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상태: needs_review / 전사: transcript_partial / 그래프: not_expected_in_current_graph / 노드: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1042416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4014216"/>
            <a:ext cx="1143000" cy="329184"/>
          </a:xfrm>
          <a:prstGeom prst="roundRect">
            <a:avLst/>
          </a:prstGeom>
          <a:solidFill>
            <a:srgbClr val="BE123C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64508"/>
            <a:ext cx="1088136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음성002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959352"/>
            <a:ext cx="2560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음성 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986784"/>
            <a:ext cx="534924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상태: ui_or_graph_gap / 전사: transcript_ready / 그래프: not_expected_in_current_graph / 노드: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03520"/>
            <a:ext cx="100584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700" b="1">
                <a:solidFill>
                  <a:srgbClr val="BE123C"/>
                </a:solidFill>
                <a:latin typeface="Malgun Gothic"/>
              </a:defRPr>
            </a:pPr>
            <a:r>
              <a:t>이 3건이 남아 있기 때문에 `모든 입력이 완전 반영`이라는 표현은 아직 금물이다.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Malgun Gothic"/>
              </a:defRPr>
            </a:pPr>
            <a:r>
              <a:t>9. 발표용 한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41248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운영규정과 의제 결과를 같이 묶는 닫는 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101852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기후시민회의 결론 도출과정 연결성 검증 ·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5840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057400"/>
            <a:ext cx="89154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defRPr sz="2300" b="1">
                <a:solidFill>
                  <a:srgbClr val="1F2937"/>
                </a:solidFill>
                <a:latin typeface="Malgun Gothic"/>
              </a:defRPr>
            </a:pPr>
            <a:r>
              <a:t>“이번 결과는 토론 하나로 바로 결론을 낸 것이 아닙니다. 시민 제안과 조별 숙의가 기준과 후보를 만들었고, 기획참여단 투표가 운영규정과 의제의 방향을 확인했으며, 겹치는 후보는 통합해서 오늘의 결론으로 정리했습니다.”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846320"/>
            <a:ext cx="93268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algun Gothic"/>
              </a:defRPr>
            </a:pPr>
            <a:r>
              <a:t>단, 데이터 반영 범위는 정직하게 말한다: A-only는 아니지만, partial/gap 3건은 별도 재확인 대상이다.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