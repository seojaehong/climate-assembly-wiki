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66928"/>
            <a:ext cx="1554480" cy="329184"/>
          </a:xfrm>
          <a:prstGeom prst="round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17220"/>
            <a:ext cx="1499616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검증 발표자료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669280" cy="12344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3200" b="1">
                <a:solidFill>
                  <a:srgbClr val="1F2937"/>
                </a:solidFill>
                <a:latin typeface="Malgun Gothic"/>
              </a:defRPr>
            </a:pPr>
            <a:r>
              <a:t>운영규정과 의제는</a:t>
            </a:r>
          </a:p>
          <a:p>
            <a:pPr algn="l">
              <a:defRPr sz="3200" b="1">
                <a:solidFill>
                  <a:srgbClr val="1F2937"/>
                </a:solidFill>
                <a:latin typeface="Malgun Gothic"/>
              </a:defRPr>
            </a:pPr>
            <a:r>
              <a:t>어떻게 결론이 되었나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58368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algun Gothic"/>
              </a:defRPr>
            </a:pPr>
            <a:r>
              <a:t>입력데이터 반영 범위와 토론→투표→통합→결론의 연결성을 분리해 보여주는 보조 발표자료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914400"/>
            <a:ext cx="3886200" cy="434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243584"/>
            <a:ext cx="301752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Malgun Gothic"/>
              </a:defRPr>
            </a:pPr>
            <a:r>
              <a:t>핵심 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83080"/>
            <a:ext cx="31546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700" b="0">
                <a:solidFill>
                  <a:srgbClr val="1F2937"/>
                </a:solidFill>
                <a:latin typeface="Malgun Gothic"/>
              </a:defRPr>
            </a:pPr>
            <a:r>
              <a:t>A조만 부각?  아니다</a:t>
            </a:r>
          </a:p>
          <a:p>
            <a:pPr algn="l">
              <a:defRPr sz="1700" b="0">
                <a:solidFill>
                  <a:srgbClr val="1F2937"/>
                </a:solidFill>
                <a:latin typeface="Malgun Gothic"/>
              </a:defRPr>
            </a:pPr>
            <a:r>
              <a:t>모든 데이터 완전 반영?  아니다, gap 3건 표시</a:t>
            </a:r>
          </a:p>
          <a:p>
            <a:pPr algn="l">
              <a:defRPr sz="1700" b="0">
                <a:solidFill>
                  <a:srgbClr val="1F2937"/>
                </a:solidFill>
                <a:latin typeface="Malgun Gothic"/>
              </a:defRPr>
            </a:pPr>
            <a:r>
              <a:t>결론 연결?  가능하다, 단 투표/통합 단계까지 보여줘야 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886200"/>
            <a:ext cx="3063240" cy="6949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300" b="1">
                <a:solidFill>
                  <a:srgbClr val="0F766E"/>
                </a:solidFill>
                <a:latin typeface="Malgun Gothic"/>
              </a:defRPr>
            </a:pPr>
            <a:r>
              <a:t>프레이밍: 숙의가 기준과 선택지를 만들고, 투표와 통합 판단이 결론을 고정했다.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1. 입력데이터 반영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공개 메뉴와 source coverage를 분리해서 확인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1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  <a:latin typeface="Malgun Gothic"/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0253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원본 파일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50876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627631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0F766E"/>
                </a:solidFill>
                <a:latin typeface="Malgun Gothic"/>
              </a:defRPr>
            </a:pPr>
            <a: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200253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coverage nodes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50876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627631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0F766E"/>
                </a:solidFill>
                <a:latin typeface="Malgun Gothic"/>
              </a:defRPr>
            </a:pPr>
            <a: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200253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coverage edges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50876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627631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15803D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200253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ready sessions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150876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19" y="1627631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BE123C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5207" y="200253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partial/gap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80360"/>
            <a:ext cx="5212080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063240"/>
            <a:ext cx="14630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Malgun Gothic"/>
              </a:defRPr>
            </a:pPr>
            <a:r>
              <a:t>공개 메뉴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493008"/>
            <a:ext cx="438912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algun Gothic"/>
              </a:defRPr>
            </a:pPr>
            <a:r>
              <a:t>기본값: final-process-to-conclusion-0704</a:t>
            </a:r>
          </a:p>
          <a:p>
            <a:pPr algn="l">
              <a:defRPr sz="1200" b="0">
                <a:solidFill>
                  <a:srgbClr val="64748B"/>
                </a:solidFill>
                <a:latin typeface="Malgun Gothic"/>
              </a:defRPr>
            </a:pPr>
            <a:r>
              <a:t>노출 source: 6개</a:t>
            </a:r>
          </a:p>
          <a:p>
            <a:pPr algn="l">
              <a:defRPr sz="1200" b="0">
                <a:solidFill>
                  <a:srgbClr val="64748B"/>
                </a:solidFill>
                <a:latin typeface="Malgun Gothic"/>
              </a:defRPr>
            </a:pPr>
            <a:r>
              <a:t>live-A_t1 노출: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880360"/>
            <a:ext cx="4892040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063240"/>
            <a:ext cx="15544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500" b="1">
                <a:solidFill>
                  <a:srgbClr val="BE123C"/>
                </a:solidFill>
                <a:latin typeface="Malgun Gothic"/>
              </a:defRPr>
            </a:pPr>
            <a:r>
              <a:t>남은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529584"/>
            <a:ext cx="416052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algun Gothic"/>
              </a:defRPr>
            </a:pPr>
            <a:r>
              <a:t>6/14 B조 토론2, 6/14 토론4 통합 운영, 음성 002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3776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800" b="1">
                <a:solidFill>
                  <a:srgbClr val="0F766E"/>
                </a:solidFill>
                <a:latin typeface="Malgun Gothic"/>
              </a:defRPr>
            </a:pPr>
            <a:r>
              <a:t>따라서 `A-only` 위험은 해소됐지만, `완전 반영 완료`라고는 말하지 않는다.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2. 결론 도출과정의 정확한 말하기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끝장토론 결론이 아니라 숙의-투표-통합의 연결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93976"/>
            <a:ext cx="438912" cy="329184"/>
          </a:xfrm>
          <a:prstGeom prst="round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44268"/>
            <a:ext cx="384048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103120"/>
            <a:ext cx="13258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Malgun Gothic"/>
              </a:defRPr>
            </a:pPr>
            <a: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41448"/>
            <a:ext cx="1810512" cy="493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algun Gothic"/>
              </a:defRPr>
            </a:pPr>
            <a:r>
              <a:t>사전 제안, 원본 음성·문서, 조별 토론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42032"/>
            <a:ext cx="118872" cy="0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71800" y="196596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08960" y="2093976"/>
            <a:ext cx="438912" cy="329184"/>
          </a:xfrm>
          <a:prstGeom prst="round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144268"/>
            <a:ext cx="384048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103120"/>
            <a:ext cx="13258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Malgun Gothic"/>
              </a:defRPr>
            </a:pPr>
            <a:r>
              <a:t>숙의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2441448"/>
            <a:ext cx="1810512" cy="493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algun Gothic"/>
              </a:defRPr>
            </a:pPr>
            <a:r>
              <a:t>쟁점·조건·후보를 만들고 압축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20640" y="2542032"/>
            <a:ext cx="118872" cy="0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257800" y="196596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94960" y="2093976"/>
            <a:ext cx="438912" cy="329184"/>
          </a:xfrm>
          <a:prstGeom prst="round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22392" y="2144268"/>
            <a:ext cx="384048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2103120"/>
            <a:ext cx="13258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Malgun Gothic"/>
              </a:defRPr>
            </a:pPr>
            <a:r>
              <a:t>투표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2441448"/>
            <a:ext cx="1810512" cy="493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algun Gothic"/>
              </a:defRPr>
            </a:pPr>
            <a:r>
              <a:t>선택지에 대한 선호와 정족수 확인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06640" y="2542032"/>
            <a:ext cx="118872" cy="0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43800" y="196596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2093976"/>
            <a:ext cx="438912" cy="329184"/>
          </a:xfrm>
          <a:prstGeom prst="roundRect">
            <a:avLst/>
          </a:prstGeom>
          <a:solidFill>
            <a:srgbClr val="4F46E5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8392" y="2144268"/>
            <a:ext cx="384048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103120"/>
            <a:ext cx="13258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Malgun Gothic"/>
              </a:defRPr>
            </a:pPr>
            <a:r>
              <a:t>통합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08392" y="2441448"/>
            <a:ext cx="1810512" cy="493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algun Gothic"/>
              </a:defRPr>
            </a:pPr>
            <a:r>
              <a:t>겹치는 후보와 분과 구조를 정리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692640" y="2542032"/>
            <a:ext cx="118872" cy="0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829800" y="196596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66960" y="2093976"/>
            <a:ext cx="438912" cy="329184"/>
          </a:xfrm>
          <a:prstGeom prst="roundRect">
            <a:avLst/>
          </a:prstGeom>
          <a:solidFill>
            <a:srgbClr val="BE123C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94392" y="2144268"/>
            <a:ext cx="384048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88168" y="2103120"/>
            <a:ext cx="13258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Malgun Gothic"/>
              </a:defRPr>
            </a:pPr>
            <a:r>
              <a:t>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94392" y="2441448"/>
            <a:ext cx="1810512" cy="493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algun Gothic"/>
              </a:defRPr>
            </a:pPr>
            <a:r>
              <a:t>운영규정과 의제 발표자료로 고정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10058400" cy="777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  <a:latin typeface="Malgun Gothic"/>
              </a:defRPr>
            </a:pPr>
            <a:r>
              <a:t>발표 문장: “토론이 결론을 바로 낸 것이 아니라, 토론이 투표 가능한 기준과 선택지를 만들었고 투표와 통합 판단으로 최종 결론이 확정되었습니다.”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3. 운영규정: 쟁점에서 규정으로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조별/전체 논의 뒤 투표로 확정된 항목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3474720" cy="493776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490472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Malgun Gothic"/>
              </a:defRPr>
            </a:pPr>
            <a:r>
              <a:t>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417320"/>
            <a:ext cx="2057400" cy="493776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5656" y="1490472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최종값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1417320" cy="493776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63056" y="1490472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투표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417320"/>
            <a:ext cx="1554480" cy="493776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0375" y="1490472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토론맥락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1417320"/>
            <a:ext cx="2148840" cy="493776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1490472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표현 방식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938528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011680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기획참여단 의결정족수 = 출석 2/3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9080" y="1938528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2011680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출석 2/3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938528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6" y="2011680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2차 투표 14/18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1938528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0375" y="2011680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5건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938528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4855" y="2011680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2468880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542032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숙의참여단 분과 구성 = 분과를 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2468880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05656" y="2542032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분과를 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468880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2542032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1차 투표 13/18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2468880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0375" y="2542032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3건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8280" y="2468880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34855" y="2542032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2999232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3072384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분과 개수 = 3개 분과(감축1·감축2·적응)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80" y="2999232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05656" y="3072384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3개 분과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2999232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63056" y="3072384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결선 13/18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43800" y="2999232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0375" y="3072384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1건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8280" y="2999232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34855" y="3072384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" y="3529584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" y="3602736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숙의참여단 분과 의결정족수 = 출석 2/3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9080" y="3529584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05656" y="3602736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출석 2/3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3529584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63056" y="3602736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결선 15/18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3529584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0375" y="3602736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1건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8280" y="3529584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34855" y="3602736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4059936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" y="4133088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숙의참여단 전체 의결정족수 = 출석 2/3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9080" y="4059936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05656" y="4133088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출석 2/3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4059936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3056" y="4133088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2차 투표 14/18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4059936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80375" y="4133088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1건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98280" y="4059936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4855" y="4133088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" y="4590288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" y="4663440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의제 기준 14조 1항 = 직·간접 관련으로 확장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9080" y="4590288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05656" y="4663440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직·간접 관련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4590288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4663440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17/18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43800" y="4590288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80375" y="4663440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4건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98280" y="4590288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34855" y="4663440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5120640"/>
            <a:ext cx="34747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5193792"/>
            <a:ext cx="34015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1">
                <a:solidFill>
                  <a:srgbClr val="1F2937"/>
                </a:solidFill>
                <a:latin typeface="Malgun Gothic"/>
              </a:defRPr>
            </a:pPr>
            <a:r>
              <a:t>의제 기준 14조 3항 = 시민의 삶·일상 실천 유지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69080" y="5120640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05656" y="5193792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현행 유지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26480" y="5120640"/>
            <a:ext cx="14173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63056" y="5193792"/>
            <a:ext cx="134416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16/18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43800" y="5120640"/>
            <a:ext cx="15544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580375" y="5193792"/>
            <a:ext cx="14813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2건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98280" y="5120640"/>
            <a:ext cx="21488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134855" y="5193792"/>
            <a:ext cx="2075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Malgun Gothic"/>
              </a:defRPr>
            </a:pPr>
            <a:r>
              <a:t>논의→투표→규정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788152"/>
            <a:ext cx="1060704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500" b="1">
                <a:solidFill>
                  <a:srgbClr val="0F766E"/>
                </a:solidFill>
                <a:latin typeface="Malgun Gothic"/>
              </a:defRPr>
            </a:pPr>
            <a:r>
              <a:t>운영규정은 정족수·분과·의제 기준을 투표 결과와 함께 설명할 수 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4. 의제 선정: 690건에서 후보와 분과로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접수·학습·숙의·평가를 거쳐 발표 의제로 압축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  <a:latin typeface="Malgun Gothic"/>
              </a:defRPr>
            </a:pPr>
            <a:r>
              <a:t>690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5681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사전 접수 의제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46304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581912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0F766E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195681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평가 후보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146304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59" y="1581912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4F46E5"/>
                </a:solidFill>
                <a:latin typeface="Malgun Gothic"/>
              </a:defRPr>
            </a:pPr>
            <a: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195681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기획참여단 응답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1463040"/>
            <a:ext cx="1965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581912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2000" b="1">
                <a:solidFill>
                  <a:srgbClr val="B45309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3527" y="1956816"/>
            <a:ext cx="174650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분과/의제 슬롯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880360"/>
            <a:ext cx="1037844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54680"/>
            <a:ext cx="2286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Malgun Gothic"/>
              </a:defRPr>
            </a:pPr>
            <a:r>
              <a:t>의제 선정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675887"/>
            <a:ext cx="941832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Malgun Gothic"/>
              </a:defRPr>
            </a:pPr>
            <a:r>
              <a:t>기후위기 직·간접 관련성 / 법령 부합 / 시민 일상 실천 가능성 / 사회적 합의 필요성 / 대안 비교 가능성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160520"/>
            <a:ext cx="8961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algun Gothic"/>
              </a:defRPr>
            </a:pPr>
            <a:r>
              <a:t>운영규정 제14조 기준이 의제 선정의 필터 역할을 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5. 의제 3개: 확정·통합·미확정 슬롯을 분리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세 번째는 현재 증거상 확정명이 아니라 새 의제 슬롯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664208"/>
            <a:ext cx="868680" cy="329184"/>
          </a:xfrm>
          <a:prstGeom prst="round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14500"/>
            <a:ext cx="813815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적응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788920" cy="7132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Malgun Gothic"/>
              </a:defRPr>
            </a:pPr>
            <a:r>
              <a:t>생애주기 탄소중립 교육 및 시민의식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44368"/>
            <a:ext cx="283464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100" b="1">
                <a:solidFill>
                  <a:srgbClr val="0F766E"/>
                </a:solidFill>
                <a:latin typeface="Malgun Gothic"/>
              </a:defRPr>
            </a:pPr>
            <a:r>
              <a:t>확정 설명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2834640" cy="13258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사전 접수와 조별 숙의에서 교육·시민참여 맥락이 반복됨</a:t>
            </a:r>
          </a:p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교육 의제가 평가 1위, 시민참여 의제가 공동 2위로 확인됨</a:t>
            </a:r>
          </a:p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발표 시나리오에서 시민참여를 교육 의제에 통합해 적응 분과 의제로 설명함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17320"/>
            <a:ext cx="333756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09160" y="1664208"/>
            <a:ext cx="868680" cy="329184"/>
          </a:xfrm>
          <a:prstGeom prst="roundRect">
            <a:avLst/>
          </a:prstGeom>
          <a:solidFill>
            <a:srgbClr val="0891B2"/>
          </a:solidFill>
          <a:ln w="9525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14500"/>
            <a:ext cx="813815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감축1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148840"/>
            <a:ext cx="2788920" cy="7132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Malgun Gothic"/>
              </a:defRPr>
            </a:pPr>
            <a:r>
              <a:t>자원순환·생활폐기물 감축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944368"/>
            <a:ext cx="283464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Malgun Gothic"/>
              </a:defRPr>
            </a:pPr>
            <a:r>
              <a:t>확정 설명 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429000"/>
            <a:ext cx="2834640" cy="13258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사전 접수 분석에서 소비·생활양식과 자원순환 흐름이 크게 나타남</a:t>
            </a:r>
          </a:p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A조 자원순환형 배달 문화와 B조 생활폐기물 감축 논의를 통합함</a:t>
            </a:r>
          </a:p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평가 결과 공동 2위권으로 확인되어 감축1 분과 의제로 설명함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417320"/>
            <a:ext cx="333756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1664208"/>
            <a:ext cx="868680" cy="329184"/>
          </a:xfrm>
          <a:prstGeom prst="roundRect">
            <a:avLst/>
          </a:prstGeom>
          <a:solidFill>
            <a:srgbClr val="BE123C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1352" y="1714500"/>
            <a:ext cx="813815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감축2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148840"/>
            <a:ext cx="2788920" cy="7132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Malgun Gothic"/>
              </a:defRPr>
            </a:pPr>
            <a:r>
              <a:t>새로운 의제 슬롯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944368"/>
            <a:ext cx="283464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100" b="1">
                <a:solidFill>
                  <a:srgbClr val="BE123C"/>
                </a:solidFill>
                <a:latin typeface="Malgun Gothic"/>
              </a:defRPr>
            </a:pPr>
            <a:r>
              <a:t>확정명 증거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429000"/>
            <a:ext cx="2834640" cy="13258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시민의식 개선 후보가 교육 의제에 통합되며 세 번째 자리가 열림</a:t>
            </a:r>
          </a:p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발표 시나리오 7쪽·10쪽에 7.4 당일 확정 후 수정 표시가 남아 있음</a:t>
            </a:r>
          </a:p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- 현재 repo 증거만으로는 별도 최종 의제명을 단정할 수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870448"/>
            <a:ext cx="9966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300" b="1">
                <a:solidFill>
                  <a:srgbClr val="0F766E"/>
                </a:solidFill>
                <a:latin typeface="Malgun Gothic"/>
              </a:defRPr>
            </a:pPr>
            <a:r>
              <a:t>이 구분이 있어야 `없는 확정명`을 만들어내지 않으면서도 세 방향의 도출과정을 보여줄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6. 의제별 근거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투표 근거와 토론 맥락을 같이 보여주기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2057400" cy="493776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490472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Malgun Gothic"/>
              </a:defRPr>
            </a:pPr>
            <a:r>
              <a:t>의제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417320"/>
            <a:ext cx="3063240" cy="493776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88336" y="1490472"/>
            <a:ext cx="2990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결론 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417320"/>
            <a:ext cx="1920240" cy="493776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51576" y="1490472"/>
            <a:ext cx="1847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투표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1417320"/>
            <a:ext cx="1508760" cy="493776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71815" y="1490472"/>
            <a:ext cx="143560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토론맥락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417320"/>
            <a:ext cx="2926080" cy="493776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490472"/>
            <a:ext cx="28529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900" b="0">
                <a:solidFill>
                  <a:srgbClr val="1F2937"/>
                </a:solidFill>
                <a:latin typeface="Malgun Gothic"/>
              </a:defRPr>
            </a:pPr>
            <a:r>
              <a:t>해석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965960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039112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1">
                <a:solidFill>
                  <a:srgbClr val="1F2937"/>
                </a:solidFill>
                <a:latin typeface="Malgun Gothic"/>
              </a:defRPr>
            </a:pPr>
            <a:r>
              <a:t>교육·시민참여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965960"/>
            <a:ext cx="30632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2039112"/>
            <a:ext cx="2990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교육 의제에 시민의식 개선 후보 통합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0" y="1965960"/>
            <a:ext cx="19202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1576" y="2039112"/>
            <a:ext cx="1847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1위 + 공동 2위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1965960"/>
            <a:ext cx="150876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71815" y="2039112"/>
            <a:ext cx="143560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10건 + 12건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965960"/>
            <a:ext cx="29260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039112"/>
            <a:ext cx="28529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교육 체계와 참여 활성화를 하나로 설명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2624328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697480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1">
                <a:solidFill>
                  <a:srgbClr val="1F2937"/>
                </a:solidFill>
                <a:latin typeface="Malgun Gothic"/>
              </a:defRPr>
            </a:pPr>
            <a:r>
              <a:t>자원순환·폐기물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624328"/>
            <a:ext cx="30632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88336" y="2697480"/>
            <a:ext cx="2990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배달 문화와 생활폐기물 감축 통합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2624328"/>
            <a:ext cx="19202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51576" y="2697480"/>
            <a:ext cx="1847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공동 2위권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35240" y="2624328"/>
            <a:ext cx="150876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71815" y="2697480"/>
            <a:ext cx="143560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12건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2624328"/>
            <a:ext cx="29260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0576" y="2697480"/>
            <a:ext cx="28529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소비·생활양식 논의를 감축1 의제로 연결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3282696"/>
            <a:ext cx="2057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3355848"/>
            <a:ext cx="198424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1">
                <a:solidFill>
                  <a:srgbClr val="1F2937"/>
                </a:solidFill>
                <a:latin typeface="Malgun Gothic"/>
              </a:defRPr>
            </a:pPr>
            <a:r>
              <a:t>감축2 새 의제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3282696"/>
            <a:ext cx="30632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8336" y="3355848"/>
            <a:ext cx="2990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새 의제 슬롯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15000" y="3282696"/>
            <a:ext cx="19202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51576" y="3355848"/>
            <a:ext cx="18470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추가 필요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5240" y="3282696"/>
            <a:ext cx="150876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71815" y="3355848"/>
            <a:ext cx="143560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추가 필요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282696"/>
            <a:ext cx="292608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3355848"/>
            <a:ext cx="285292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1F2937"/>
                </a:solidFill>
                <a:latin typeface="Malgun Gothic"/>
              </a:defRPr>
            </a:pPr>
            <a:r>
              <a:t>현재 파일만으로 확정명 단정 불가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4754880"/>
            <a:ext cx="10287000" cy="73152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4983480"/>
            <a:ext cx="987552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400" b="1">
                <a:solidFill>
                  <a:srgbClr val="B45309"/>
                </a:solidFill>
                <a:latin typeface="Malgun Gothic"/>
              </a:defRPr>
            </a:pPr>
            <a:r>
              <a:t>권고: 본 발표에서는 1·2번을 확정 연결로, 3번은 `새 의제 확정 근거 필요`로 말한다.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7. 남은 검증 게이트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완전 반영 완료라고 말하기 전에 닫아야 할 항목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1042416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728216"/>
            <a:ext cx="1143000" cy="329184"/>
          </a:xfrm>
          <a:prstGeom prst="roundRect">
            <a:avLst/>
          </a:prstGeom>
          <a:solidFill>
            <a:srgbClr val="BE123C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778507"/>
            <a:ext cx="1088136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B_t2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673351"/>
            <a:ext cx="2560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Malgun Gothic"/>
              </a:defRPr>
            </a:pPr>
            <a:r>
              <a:t>6/14 B조 토론2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700784"/>
            <a:ext cx="534924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상태: needs_review / 전사: transcript_partial / 그래프: graph_represented / 노드: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1042416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2871215"/>
            <a:ext cx="1143000" cy="329184"/>
          </a:xfrm>
          <a:prstGeom prst="roundRect">
            <a:avLst/>
          </a:prstGeom>
          <a:solidFill>
            <a:srgbClr val="BE123C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921508"/>
            <a:ext cx="1088136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토론4통합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816352"/>
            <a:ext cx="2560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Malgun Gothic"/>
              </a:defRPr>
            </a:pPr>
            <a:r>
              <a:t>6/14 토론4 통합 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43784"/>
            <a:ext cx="534924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상태: needs_review / 전사: transcript_partial / 그래프: not_expected_in_current_graph / 노드: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94760"/>
            <a:ext cx="1042416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1560" y="4014216"/>
            <a:ext cx="1143000" cy="329184"/>
          </a:xfrm>
          <a:prstGeom prst="roundRect">
            <a:avLst/>
          </a:prstGeom>
          <a:solidFill>
            <a:srgbClr val="BE123C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64508"/>
            <a:ext cx="1088136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음성002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959352"/>
            <a:ext cx="2560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Malgun Gothic"/>
              </a:defRPr>
            </a:pPr>
            <a:r>
              <a:t>음성 002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986784"/>
            <a:ext cx="534924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상태: ui_or_graph_gap / 전사: transcript_ready / 그래프: not_expected_in_current_graph / 노드: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303520"/>
            <a:ext cx="1005840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700" b="1">
                <a:solidFill>
                  <a:srgbClr val="BE123C"/>
                </a:solidFill>
                <a:latin typeface="Malgun Gothic"/>
              </a:defRPr>
            </a:pPr>
            <a:r>
              <a:t>이 3건이 남아 있기 때문에 `모든 입력이 완전 반영`이라는 표현은 아직 금물이다.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6070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2400" b="1">
                <a:solidFill>
                  <a:srgbClr val="1F2937"/>
                </a:solidFill>
                <a:latin typeface="Malgun Gothic"/>
              </a:defRPr>
            </a:pPr>
            <a:r>
              <a:t>8. 발표용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41248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운영규정과 의제 결과를 같이 묶는 닫는 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1852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Malgun Gothic"/>
              </a:defRPr>
            </a:pPr>
            <a:r>
              <a:t>기후시민회의 결론 도출과정 연결성 검증 ·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508760"/>
            <a:ext cx="1005840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2057400"/>
            <a:ext cx="8915400" cy="11430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defRPr sz="2300" b="1">
                <a:solidFill>
                  <a:srgbClr val="1F2937"/>
                </a:solidFill>
                <a:latin typeface="Malgun Gothic"/>
              </a:defRPr>
            </a:pPr>
            <a:r>
              <a:t>“이번 결과는 토론 하나로 바로 결론을 낸 것이 아닙니다. 시민 제안과 조별 숙의가 기준과 후보를 만들었고, 기획참여단 투표가 운영규정과 의제의 방향을 확인했으며, 겹치는 후보는 통합해서 오늘의 결론으로 정리했습니다.”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846320"/>
            <a:ext cx="932688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Malgun Gothic"/>
              </a:defRPr>
            </a:pPr>
            <a:r>
              <a:t>단, 데이터 반영 범위는 정직하게 말한다: A-only는 아니지만, partial/gap 3건은 별도 재확인 대상이다.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